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4ae28ad-949f-eccc-7edf-c7cdd5cdd6be}">
          <p14:sldIdLst>
            <p14:sldId id="256"/>
            <p14:sldId id="257"/>
          </p14:sldIdLst>
        </p14:section>
        <p14:section name="Building blocks" id="{461ccbc8-38a9-f54f-707d-845919b5cc34}">
          <p14:sldIdLst>
            <p14:sldId id="258"/>
            <p14:sldId id="259"/>
          </p14:sldIdLst>
        </p14:section>
        <p14:section name="Design and working" id="{f39cfb04-a7ed-a311-ab83-22b11f8f0175}">
          <p14:sldIdLst>
            <p14:sldId id="260"/>
            <p14:sldId id="261"/>
            <p14:sldId id="262"/>
          </p14:sldIdLst>
        </p14:section>
        <p14:section name="Carry propagation delay" id="{baae1323-a775-b91c-b341-c96d96deeeeb}">
          <p14:sldIdLst>
            <p14:sldId id="263"/>
            <p14:sldId id="264"/>
            <p14:sldId id="265"/>
          </p14:sldIdLst>
        </p14:section>
        <p14:section name="Summary" id="{6ff8b047-a957-bfc6-8a8d-2858f53c7f1f}">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chemeClr val="tx1"/>
                </a:solidFill>
                <a:latin typeface="+mn-lt"/>
              </a:defRPr>
            </a:pPr>
            <a:r>
              <a:rPr sz="1400" b="0" i="0" u="none" strike="noStrike">
                <a:solidFill>
                  <a:schemeClr val="tx1"/>
                </a:solidFill>
                <a:latin typeface="+mn-lt"/>
              </a:rPr>
              <a:t>Carry arrival time (gate delays)</a:t>
            </a:r>
          </a:p>
        </c:rich>
      </c:tx>
      <c:layout/>
      <c:overlay val="0"/>
    </c:title>
    <c:autoTitleDeleted val="0"/>
    <c:plotArea>
      <c:layout/>
      <c:barChart>
        <c:barDir val="col"/>
        <c:grouping val="clustered"/>
        <c:varyColors val="0"/>
        <c:ser>
          <c:idx val="0"/>
          <c:order val="0"/>
          <c:tx>
            <c:strRef>
              <c:f>Sheet1!$B$1</c:f>
              <c:strCache>
                <c:ptCount val="1"/>
                <c:pt idx="0">
                  <c:v>Gate delays</c:v>
                </c:pt>
              </c:strCache>
            </c:strRef>
          </c:tx>
          <c:spPr>
            <a:solidFill>
              <a:schemeClr val="accent2"/>
            </a:solidFill>
            <a:effectLst/>
          </c:spPr>
          <c:invertIfNegative val="0"/>
          <c:dLbls>
            <c:numFmt formatCode="#,##0" sourceLinked="0"/>
            <c:txPr>
              <a:bodyPr/>
              <a:lstStyle/>
              <a:p>
                <a:pPr>
                  <a:defRPr b="1" i="0" strike="noStrike" sz="1400" u="none">
                    <a:solidFill>
                      <a:schemeClr val="tx1"/>
                    </a:solidFill>
                    <a:latin typeface="+mn-lt"/>
                  </a:defRPr>
                </a:pPr>
              </a:p>
            </c:txPr>
            <c:showLegendKey val="0"/>
            <c:showVal val="1"/>
            <c:showCatName val="0"/>
            <c:showSerName val="0"/>
            <c:showPercent val="0"/>
            <c:showBubbleSize val="0"/>
            <c:showLeaderLines val="0"/>
          </c:dLbls>
          <c:cat>
            <c:multiLvlStrRef>
              <c:f>Sheet1!$A$2:$A$5</c:f>
              <c:multiLvlStrCache>
                <c:ptCount val="4"/>
                <c:lvl>
                  <c:pt idx="0">
                    <c:v>C1</c:v>
                  </c:pt>
                  <c:pt idx="1">
                    <c:v>C2</c:v>
                  </c:pt>
                  <c:pt idx="2">
                    <c:v>C3</c:v>
                  </c:pt>
                  <c:pt idx="3">
                    <c:v>C4 (Cout)</c:v>
                  </c:pt>
                </c:lvl>
              </c:multiLvlStrCache>
            </c:multiLvlStrRef>
          </c:cat>
          <c:val>
            <c:numRef>
              <c:f>Sheet1!$B$2:$B$5</c:f>
              <c:numCache>
                <c:formatCode>General</c:formatCode>
                <c:ptCount val="4"/>
                <c:pt idx="0">
                  <c:v>3</c:v>
                </c:pt>
                <c:pt idx="1">
                  <c:v>5</c:v>
                </c:pt>
                <c:pt idx="2">
                  <c:v>7</c:v>
                </c:pt>
                <c:pt idx="3">
                  <c:v>9</c:v>
                </c:pt>
              </c:numCache>
            </c:numRef>
          </c:val>
        </c:ser>
        <c:dLbls>
          <c:numFmt formatCode="#,##0" sourceLinked="0"/>
          <c:txPr>
            <a:bodyPr/>
            <a:lstStyle/>
            <a:p>
              <a:pPr>
                <a:defRPr b="1" i="0" strike="noStrike" sz="1400" u="none">
                  <a:solidFill>
                    <a:schemeClr val="tx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chemeClr val="tx1"/>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6350" cap="flat">
              <a:solidFill>
                <a:srgbClr val="D5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a 4-bit ripple carry adder built from four identical full adders. The carry produced by each stage feeds the next, which is what gives the adder its name and its main limitation, delay.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ripple carry adder adds two n-bit numbers by chaining n full adders. For four bits we have A3..A0 and B3..B0 plus a carry-in, and we get four sum bits and a carry-out.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truth table. Sum is the XOR of the three inputs. Carry-out is 1 whenever at least two inputs are 1. The amber cells mark every case where a carry is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half adders plus an OR gate. The first half adder produces P = A xor B and G = A and B. The second adds P and Cin to give the sum. Cout = G + P·Cin. The amber path is the carry path, which matters for the delay analysis later: from Cin to Cout there are only two gate delays (AND then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circuit built in Logisim: four full adders in a row. Inputs A0-A3 and B0-B3 enter at the top, sum bits S0-S3 leave at the top right of each stage, and the amber carry wire runs from the OR gate of one stage to the carry-in of the next. Cin of the first stage is 0 for plain addition and the carry-out of FA3 is the fifth bit of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circuit running in Logisim. The four FullAdder subcircuits FA3 to FA0 sit in a row, with the most significant bit on the left. A and B come in through splitters, the first carry-in is tied to a constant 0, and the Sum pin and Carry Out pin show the result. In this run 1101 + 0110 gives 10011, so Sum is 0011 and Carry Out is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1011 (11), B = 0110 (6). FA0: 1+0+0 gives sum 1, carry 0. FA1: 1+1+0 gives sum 0, carry 1. FA2: 0+1+1 gives sum 0, carry 1. FA3: 1+0+1 gives sum 0, carry 1. Result is Cout=1 and sum 0001, i.e. 10001 =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stage either generates a carry, propagates one, or kills it. The recurrence C(i+1) = G(i) + P(i)·C(i) shows each carry depends on the previous carry, so it cannot be computed until that one is ready. The worst case is a carry generated at bit 0 that propagates through all remaining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 all inputs arrive at time zero and every gate takes one unit. The first stage produces C1 after XOR, AND, OR = 3 units. Every later stage adds AND + OR = 2 units, so C2 = 5, C3 = 7, C4 = 9. In general Cout takes 2n + 1 gate delays. The final sum bit S3 is ready at 8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the 2n + 1 formula: 4 bits = 9, 8 bits = 17, 16 bits = 33, 32 bits = 65 gate delays. That linear growth is the reason ripple carry adders are not used for wide, fast arithmetic. Lookahead adders break the dependency on the previous carry.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the ripple carry adder is the simplest adder, four full adders with 20 gates, but its delay grows linearly with width. Faster designs such as carry-lookahead trade extra hardware for lower delay.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548640" y="1097280"/>
            <a:ext cx="4846320" cy="15544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548640" y="2834640"/>
            <a:ext cx="4572000" cy="914400"/>
          </a:xfrm>
          <a:prstGeom prst="rect">
            <a:avLst/>
          </a:prstGeom>
          <a:noFill/>
          <a:ln/>
        </p:spPr>
        <p:txBody>
          <a:bodyPr wrap="square" rtlCol="0"/>
          <a:lstStyle>
            <a:lvl1pPr algn="l" indent="0" marL="0">
              <a:buNone/>
              <a:defRPr lang="en-US" sz="1800" dirty="0">
                <a:solidFill>
                  <a:schemeClr val="accent3"/>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846320"/>
            <a:ext cx="4572000" cy="228600"/>
          </a:xfrm>
          <a:prstGeom prst="rect">
            <a:avLst/>
          </a:prstGeom>
          <a:noFill/>
          <a:ln/>
        </p:spPr>
        <p:txBody>
          <a:bodyPr wrap="square" lIns="0" tIns="0" rIns="0" bIns="0" rtlCol="0" anchor="ctr"/>
          <a:lstStyle/>
          <a:p>
            <a:pPr indent="0" marL="0">
              <a:buNone/>
            </a:pPr>
            <a:r>
              <a:rPr lang="en-US" sz="1000" dirty="0">
                <a:solidFill>
                  <a:schemeClr val="accent4"/>
                </a:solidFill>
              </a:rPr>
              <a:t>4-Bit Ripple Carry Adder</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457200" y="274320"/>
            <a:ext cx="8229600" cy="77724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1"/>
          <p:cNvSpPr/>
          <p:nvPr/>
        </p:nvSpPr>
        <p:spPr>
          <a:xfrm>
            <a:off x="457200" y="4846320"/>
            <a:ext cx="4572000" cy="228600"/>
          </a:xfrm>
          <a:prstGeom prst="rect">
            <a:avLst/>
          </a:prstGeom>
          <a:noFill/>
          <a:ln/>
        </p:spPr>
        <p:txBody>
          <a:bodyPr wrap="square" lIns="0" tIns="0" rIns="0" bIns="0" rtlCol="0" anchor="ctr"/>
          <a:lstStyle/>
          <a:p>
            <a:pPr indent="0" marL="0">
              <a:buNone/>
            </a:pPr>
            <a:r>
              <a:rPr lang="en-US" sz="1000" dirty="0">
                <a:solidFill>
                  <a:schemeClr val="accent3"/>
                </a:solidFill>
              </a:rPr>
              <a:t>4-Bit Ripple Carry Adder</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1097280"/>
            <a:ext cx="4846320" cy="1554480"/>
          </a:xfrm>
          <a:prstGeom prst="rect">
            <a:avLst/>
          </a:prstGeom>
          <a:noFill/>
          <a:ln/>
        </p:spPr>
        <p:txBody>
          <a:bodyPr wrap="square" lIns="0" tIns="0" rIns="0" bIns="0" rtlCol="0" anchor="b"/>
          <a:lstStyle/>
          <a:p>
            <a:pPr algn="l" indent="0" marL="0">
              <a:buNone/>
            </a:pPr>
            <a:r>
              <a:rPr lang="en-US" sz="4000" b="1" dirty="0">
                <a:solidFill>
                  <a:schemeClr val="bg1"/>
                </a:solidFill>
              </a:rPr>
              <a:t>4-Bit Ripple Carry Adder</a:t>
            </a:r>
            <a:endParaRPr lang="en-US" sz="4000" dirty="0"/>
          </a:p>
        </p:txBody>
      </p:sp>
      <p:sp>
        <p:nvSpPr>
          <p:cNvPr id="3" name="Text 1"/>
          <p:cNvSpPr/>
          <p:nvPr>
            <p:ph idx="102" type="body" hasCustomPrompt="1"/>
          </p:nvPr>
        </p:nvSpPr>
        <p:spPr>
          <a:xfrm>
            <a:off x="548640" y="2834640"/>
            <a:ext cx="4572000" cy="914400"/>
          </a:xfrm>
          <a:prstGeom prst="rect">
            <a:avLst/>
          </a:prstGeom>
          <a:noFill/>
          <a:ln/>
        </p:spPr>
        <p:txBody>
          <a:bodyPr wrap="square" lIns="0" tIns="0" rIns="0" bIns="0" rtlCol="0" anchor="t"/>
          <a:lstStyle/>
          <a:p>
            <a:pPr algn="l" indent="0" marL="0">
              <a:buNone/>
            </a:pPr>
            <a:r>
              <a:rPr lang="en-US" sz="1800" dirty="0">
                <a:solidFill>
                  <a:schemeClr val="accent3"/>
                </a:solidFill>
              </a:rPr>
              <a:t>Design, working and carry propagation delay</a:t>
            </a:r>
            <a:endParaRPr lang="en-US" sz="1800" dirty="0"/>
          </a:p>
        </p:txBody>
      </p:sp>
      <p:sp>
        <p:nvSpPr>
          <p:cNvPr id="4" name="Full adder 0"/>
          <p:cNvSpPr txBox="1"/>
          <p:nvPr/>
        </p:nvSpPr>
        <p:spPr>
          <a:xfrm>
            <a:off x="6492240" y="685800"/>
            <a:ext cx="1645920" cy="731520"/>
          </a:xfrm>
          <a:prstGeom prst="roundRect">
            <a:avLst>
              <a:gd name="adj" fmla="val 12500"/>
            </a:avLst>
          </a:prstGeom>
          <a:solidFill>
            <a:schemeClr val="accent1"/>
          </a:solidFill>
          <a:ln/>
        </p:spPr>
        <p:txBody>
          <a:bodyPr wrap="square" lIns="508" tIns="508" rIns="508" bIns="508" rtlCol="0" anchor="ctr"/>
          <a:lstStyle/>
          <a:p>
            <a:pPr algn="ctr" indent="0" marL="0">
              <a:buNone/>
            </a:pPr>
            <a:r>
              <a:rPr lang="en-US" sz="2000" b="1" dirty="0">
                <a:solidFill>
                  <a:schemeClr val="bg1"/>
                </a:solidFill>
              </a:rPr>
              <a:t>FA0</a:t>
            </a:r>
            <a:endParaRPr lang="en-US" sz="2000" dirty="0"/>
          </a:p>
        </p:txBody>
      </p:sp>
      <p:sp>
        <p:nvSpPr>
          <p:cNvPr id="5" name="Carry wire"/>
          <p:cNvSpPr/>
          <p:nvPr/>
        </p:nvSpPr>
        <p:spPr>
          <a:xfrm>
            <a:off x="7315200" y="1417320"/>
            <a:ext cx="0" cy="274320"/>
          </a:xfrm>
          <a:prstGeom prst="line">
            <a:avLst/>
          </a:prstGeom>
          <a:noFill/>
          <a:ln w="38100">
            <a:solidFill>
              <a:schemeClr val="accent2"/>
            </a:solidFill>
            <a:prstDash val="solid"/>
            <a:tailEnd type="triangle"/>
          </a:ln>
        </p:spPr>
      </p:sp>
      <p:sp>
        <p:nvSpPr>
          <p:cNvPr id="6" name="Label"/>
          <p:cNvSpPr txBox="1"/>
          <p:nvPr/>
        </p:nvSpPr>
        <p:spPr>
          <a:xfrm>
            <a:off x="7452360" y="1463040"/>
            <a:ext cx="548640" cy="274320"/>
          </a:xfrm>
          <a:prstGeom prst="rect">
            <a:avLst/>
          </a:prstGeom>
          <a:noFill/>
          <a:ln/>
        </p:spPr>
        <p:txBody>
          <a:bodyPr wrap="square" lIns="0" tIns="0" rIns="0" bIns="0" rtlCol="0" anchor="ctr"/>
          <a:lstStyle/>
          <a:p>
            <a:pPr algn="l" indent="0" marL="0">
              <a:buNone/>
            </a:pPr>
            <a:r>
              <a:rPr lang="en-US" sz="1400" b="1" dirty="0">
                <a:solidFill>
                  <a:schemeClr val="accent2"/>
                </a:solidFill>
              </a:rPr>
              <a:t>C1</a:t>
            </a:r>
            <a:endParaRPr lang="en-US" sz="1400" dirty="0"/>
          </a:p>
        </p:txBody>
      </p:sp>
      <p:sp>
        <p:nvSpPr>
          <p:cNvPr id="7" name="Full adder 1"/>
          <p:cNvSpPr txBox="1"/>
          <p:nvPr/>
        </p:nvSpPr>
        <p:spPr>
          <a:xfrm>
            <a:off x="6492240" y="1691640"/>
            <a:ext cx="1645920" cy="731520"/>
          </a:xfrm>
          <a:prstGeom prst="roundRect">
            <a:avLst>
              <a:gd name="adj" fmla="val 12500"/>
            </a:avLst>
          </a:prstGeom>
          <a:solidFill>
            <a:schemeClr val="accent1"/>
          </a:solidFill>
          <a:ln/>
        </p:spPr>
        <p:txBody>
          <a:bodyPr wrap="square" lIns="508" tIns="508" rIns="508" bIns="508" rtlCol="0" anchor="ctr"/>
          <a:lstStyle/>
          <a:p>
            <a:pPr algn="ctr" indent="0" marL="0">
              <a:buNone/>
            </a:pPr>
            <a:r>
              <a:rPr lang="en-US" sz="2000" b="1" dirty="0">
                <a:solidFill>
                  <a:schemeClr val="bg1"/>
                </a:solidFill>
              </a:rPr>
              <a:t>FA1</a:t>
            </a:r>
            <a:endParaRPr lang="en-US" sz="2000" dirty="0"/>
          </a:p>
        </p:txBody>
      </p:sp>
      <p:sp>
        <p:nvSpPr>
          <p:cNvPr id="8" name="Carry wire"/>
          <p:cNvSpPr/>
          <p:nvPr/>
        </p:nvSpPr>
        <p:spPr>
          <a:xfrm>
            <a:off x="7315200" y="2423160"/>
            <a:ext cx="0" cy="274320"/>
          </a:xfrm>
          <a:prstGeom prst="line">
            <a:avLst/>
          </a:prstGeom>
          <a:noFill/>
          <a:ln w="38100">
            <a:solidFill>
              <a:schemeClr val="accent2"/>
            </a:solidFill>
            <a:prstDash val="solid"/>
            <a:tailEnd type="triangle"/>
          </a:ln>
        </p:spPr>
      </p:sp>
      <p:sp>
        <p:nvSpPr>
          <p:cNvPr id="9" name="Label"/>
          <p:cNvSpPr txBox="1"/>
          <p:nvPr/>
        </p:nvSpPr>
        <p:spPr>
          <a:xfrm>
            <a:off x="7452360" y="2468880"/>
            <a:ext cx="548640" cy="274320"/>
          </a:xfrm>
          <a:prstGeom prst="rect">
            <a:avLst/>
          </a:prstGeom>
          <a:noFill/>
          <a:ln/>
        </p:spPr>
        <p:txBody>
          <a:bodyPr wrap="square" lIns="0" tIns="0" rIns="0" bIns="0" rtlCol="0" anchor="ctr"/>
          <a:lstStyle/>
          <a:p>
            <a:pPr algn="l" indent="0" marL="0">
              <a:buNone/>
            </a:pPr>
            <a:r>
              <a:rPr lang="en-US" sz="1400" b="1" dirty="0">
                <a:solidFill>
                  <a:schemeClr val="accent2"/>
                </a:solidFill>
              </a:rPr>
              <a:t>C2</a:t>
            </a:r>
            <a:endParaRPr lang="en-US" sz="1400" dirty="0"/>
          </a:p>
        </p:txBody>
      </p:sp>
      <p:sp>
        <p:nvSpPr>
          <p:cNvPr id="10" name="Full adder 2"/>
          <p:cNvSpPr txBox="1"/>
          <p:nvPr/>
        </p:nvSpPr>
        <p:spPr>
          <a:xfrm>
            <a:off x="6492240" y="2697480"/>
            <a:ext cx="1645920" cy="731520"/>
          </a:xfrm>
          <a:prstGeom prst="roundRect">
            <a:avLst>
              <a:gd name="adj" fmla="val 12500"/>
            </a:avLst>
          </a:prstGeom>
          <a:solidFill>
            <a:schemeClr val="accent1"/>
          </a:solidFill>
          <a:ln/>
        </p:spPr>
        <p:txBody>
          <a:bodyPr wrap="square" lIns="508" tIns="508" rIns="508" bIns="508" rtlCol="0" anchor="ctr"/>
          <a:lstStyle/>
          <a:p>
            <a:pPr algn="ctr" indent="0" marL="0">
              <a:buNone/>
            </a:pPr>
            <a:r>
              <a:rPr lang="en-US" sz="2000" b="1" dirty="0">
                <a:solidFill>
                  <a:schemeClr val="bg1"/>
                </a:solidFill>
              </a:rPr>
              <a:t>FA2</a:t>
            </a:r>
            <a:endParaRPr lang="en-US" sz="2000" dirty="0"/>
          </a:p>
        </p:txBody>
      </p:sp>
      <p:sp>
        <p:nvSpPr>
          <p:cNvPr id="11" name="Carry wire"/>
          <p:cNvSpPr/>
          <p:nvPr/>
        </p:nvSpPr>
        <p:spPr>
          <a:xfrm>
            <a:off x="7315200" y="3429000"/>
            <a:ext cx="0" cy="274320"/>
          </a:xfrm>
          <a:prstGeom prst="line">
            <a:avLst/>
          </a:prstGeom>
          <a:noFill/>
          <a:ln w="38100">
            <a:solidFill>
              <a:schemeClr val="accent2"/>
            </a:solidFill>
            <a:prstDash val="solid"/>
            <a:tailEnd type="triangle"/>
          </a:ln>
        </p:spPr>
      </p:sp>
      <p:sp>
        <p:nvSpPr>
          <p:cNvPr id="12" name="Label"/>
          <p:cNvSpPr txBox="1"/>
          <p:nvPr/>
        </p:nvSpPr>
        <p:spPr>
          <a:xfrm>
            <a:off x="7452360" y="3474720"/>
            <a:ext cx="548640" cy="274320"/>
          </a:xfrm>
          <a:prstGeom prst="rect">
            <a:avLst/>
          </a:prstGeom>
          <a:noFill/>
          <a:ln/>
        </p:spPr>
        <p:txBody>
          <a:bodyPr wrap="square" lIns="0" tIns="0" rIns="0" bIns="0" rtlCol="0" anchor="ctr"/>
          <a:lstStyle/>
          <a:p>
            <a:pPr algn="l" indent="0" marL="0">
              <a:buNone/>
            </a:pPr>
            <a:r>
              <a:rPr lang="en-US" sz="1400" b="1" dirty="0">
                <a:solidFill>
                  <a:schemeClr val="accent2"/>
                </a:solidFill>
              </a:rPr>
              <a:t>C3</a:t>
            </a:r>
            <a:endParaRPr lang="en-US" sz="1400" dirty="0"/>
          </a:p>
        </p:txBody>
      </p:sp>
      <p:sp>
        <p:nvSpPr>
          <p:cNvPr id="13" name="Full adder 3"/>
          <p:cNvSpPr txBox="1"/>
          <p:nvPr/>
        </p:nvSpPr>
        <p:spPr>
          <a:xfrm>
            <a:off x="6492240" y="3703320"/>
            <a:ext cx="1645920" cy="731520"/>
          </a:xfrm>
          <a:prstGeom prst="roundRect">
            <a:avLst>
              <a:gd name="adj" fmla="val 12500"/>
            </a:avLst>
          </a:prstGeom>
          <a:solidFill>
            <a:schemeClr val="accent1"/>
          </a:solidFill>
          <a:ln/>
        </p:spPr>
        <p:txBody>
          <a:bodyPr wrap="square" lIns="508" tIns="508" rIns="508" bIns="508" rtlCol="0" anchor="ctr"/>
          <a:lstStyle/>
          <a:p>
            <a:pPr algn="ctr" indent="0" marL="0">
              <a:buNone/>
            </a:pPr>
            <a:r>
              <a:rPr lang="en-US" sz="2000" b="1" dirty="0">
                <a:solidFill>
                  <a:schemeClr val="bg1"/>
                </a:solidFill>
              </a:rPr>
              <a:t>FA3</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000" b="1" dirty="0">
                <a:solidFill>
                  <a:schemeClr val="tx1"/>
                </a:solidFill>
              </a:rPr>
              <a:t>What is a ripple carry adder?</a:t>
            </a:r>
            <a:endParaRPr lang="en-US" sz="3000" dirty="0"/>
          </a:p>
        </p:txBody>
      </p:sp>
      <p:sp>
        <p:nvSpPr>
          <p:cNvPr id="3" name="Icon circle"/>
          <p:cNvSpPr txBox="1"/>
          <p:nvPr/>
        </p:nvSpPr>
        <p:spPr>
          <a:xfrm>
            <a:off x="457200"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4" name="Point 1"/>
          <p:cNvSpPr txBox="1"/>
          <p:nvPr/>
        </p:nvSpPr>
        <p:spPr>
          <a:xfrm>
            <a:off x="1188720" y="1325880"/>
            <a:ext cx="3931920" cy="868680"/>
          </a:xfrm>
          <a:prstGeom prst="rect">
            <a:avLst/>
          </a:prstGeom>
          <a:noFill/>
          <a:ln/>
        </p:spPr>
        <p:txBody>
          <a:bodyPr wrap="square" lIns="0" tIns="0" rIns="0" bIns="0" rtlCol="0" anchor="ctr"/>
          <a:lstStyle/>
          <a:p>
            <a:pPr indent="0" marL="0">
              <a:buNone/>
            </a:pPr>
            <a:r>
              <a:rPr lang="en-US" sz="1800" b="1" dirty="0">
                <a:solidFill>
                  <a:schemeClr val="tx1"/>
                </a:solidFill>
              </a:rPr>
              <a:t>Adds two 4-bit numbers</a:t>
            </a:r>
            <a:endParaRPr lang="en-US" sz="1800" dirty="0"/>
          </a:p>
          <a:p>
            <a:pPr indent="0" marL="0">
              <a:buNone/>
            </a:pPr>
            <a:r>
              <a:rPr lang="en-US" sz="1400" dirty="0">
                <a:solidFill>
                  <a:schemeClr val="tx1"/>
                </a:solidFill>
              </a:rPr>
              <a:t>Takes A, B and a carry-in, and produces a 4-bit sum and a carry-out.</a:t>
            </a:r>
            <a:endParaRPr lang="en-US" sz="1800" dirty="0"/>
          </a:p>
        </p:txBody>
      </p:sp>
      <p:sp>
        <p:nvSpPr>
          <p:cNvPr id="5" name="Icon circle"/>
          <p:cNvSpPr txBox="1"/>
          <p:nvPr/>
        </p:nvSpPr>
        <p:spPr>
          <a:xfrm>
            <a:off x="457200" y="251460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6" name="Point 2"/>
          <p:cNvSpPr txBox="1"/>
          <p:nvPr/>
        </p:nvSpPr>
        <p:spPr>
          <a:xfrm>
            <a:off x="1188720" y="2423160"/>
            <a:ext cx="3931920" cy="868680"/>
          </a:xfrm>
          <a:prstGeom prst="rect">
            <a:avLst/>
          </a:prstGeom>
          <a:noFill/>
          <a:ln/>
        </p:spPr>
        <p:txBody>
          <a:bodyPr wrap="square" lIns="0" tIns="0" rIns="0" bIns="0" rtlCol="0" anchor="ctr"/>
          <a:lstStyle/>
          <a:p>
            <a:pPr indent="0" marL="0">
              <a:buNone/>
            </a:pPr>
            <a:r>
              <a:rPr lang="en-US" sz="1800" b="1" dirty="0">
                <a:solidFill>
                  <a:schemeClr val="tx1"/>
                </a:solidFill>
              </a:rPr>
              <a:t>Built from four full adders</a:t>
            </a:r>
            <a:endParaRPr lang="en-US" sz="1800" dirty="0"/>
          </a:p>
          <a:p>
            <a:pPr indent="0" marL="0">
              <a:buNone/>
            </a:pPr>
            <a:r>
              <a:rPr lang="en-US" sz="1400" dirty="0">
                <a:solidFill>
                  <a:schemeClr val="tx1"/>
                </a:solidFill>
              </a:rPr>
              <a:t>One identical full adder per bit position.</a:t>
            </a:r>
            <a:endParaRPr lang="en-US" sz="1800" dirty="0"/>
          </a:p>
        </p:txBody>
      </p:sp>
      <p:sp>
        <p:nvSpPr>
          <p:cNvPr id="7" name="Icon circle"/>
          <p:cNvSpPr txBox="1"/>
          <p:nvPr/>
        </p:nvSpPr>
        <p:spPr>
          <a:xfrm>
            <a:off x="457200" y="361188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8" name="Point 3"/>
          <p:cNvSpPr txBox="1"/>
          <p:nvPr/>
        </p:nvSpPr>
        <p:spPr>
          <a:xfrm>
            <a:off x="1188720" y="3520440"/>
            <a:ext cx="3931920" cy="868680"/>
          </a:xfrm>
          <a:prstGeom prst="rect">
            <a:avLst/>
          </a:prstGeom>
          <a:noFill/>
          <a:ln/>
        </p:spPr>
        <p:txBody>
          <a:bodyPr wrap="square" lIns="0" tIns="0" rIns="0" bIns="0" rtlCol="0" anchor="ctr"/>
          <a:lstStyle/>
          <a:p>
            <a:pPr indent="0" marL="0">
              <a:buNone/>
            </a:pPr>
            <a:r>
              <a:rPr lang="en-US" sz="1800" b="1" dirty="0">
                <a:solidFill>
                  <a:schemeClr val="tx1"/>
                </a:solidFill>
              </a:rPr>
              <a:t>Carry ripples from LSB to MSB</a:t>
            </a:r>
            <a:endParaRPr lang="en-US" sz="1800" dirty="0"/>
          </a:p>
          <a:p>
            <a:pPr indent="0" marL="0">
              <a:buNone/>
            </a:pPr>
            <a:r>
              <a:rPr lang="en-US" sz="1400" dirty="0">
                <a:solidFill>
                  <a:schemeClr val="tx1"/>
                </a:solidFill>
              </a:rPr>
              <a:t>Each stage waits for the carry from the stage before it.</a:t>
            </a:r>
            <a:endParaRPr lang="en-US" sz="1800" dirty="0"/>
          </a:p>
        </p:txBody>
      </p:sp>
      <p:sp>
        <p:nvSpPr>
          <p:cNvPr id="9" name="Equation card"/>
          <p:cNvSpPr/>
          <p:nvPr/>
        </p:nvSpPr>
        <p:spPr>
          <a:xfrm>
            <a:off x="5486400" y="1325880"/>
            <a:ext cx="3200400" cy="3154680"/>
          </a:xfrm>
          <a:prstGeom prst="roundRect">
            <a:avLst>
              <a:gd name="adj" fmla="val 3478"/>
            </a:avLst>
          </a:prstGeom>
          <a:solidFill>
            <a:schemeClr val="tx1"/>
          </a:solidFill>
          <a:ln w="12700">
            <a:solidFill>
              <a:schemeClr val="tx1"/>
            </a:solidFill>
            <a:prstDash val="solid"/>
          </a:ln>
        </p:spPr>
      </p:sp>
      <p:sp>
        <p:nvSpPr>
          <p:cNvPr id="10" name="Equation text"/>
          <p:cNvSpPr txBox="1"/>
          <p:nvPr/>
        </p:nvSpPr>
        <p:spPr>
          <a:xfrm>
            <a:off x="5715000" y="1463040"/>
            <a:ext cx="2788920" cy="2880360"/>
          </a:xfrm>
          <a:prstGeom prst="rect">
            <a:avLst/>
          </a:prstGeom>
          <a:noFill/>
          <a:ln/>
        </p:spPr>
        <p:txBody>
          <a:bodyPr wrap="square" lIns="0" tIns="0" rIns="0" bIns="0" rtlCol="0" anchor="ctr"/>
          <a:lstStyle/>
          <a:p>
            <a:pPr indent="0" marL="0">
              <a:buNone/>
            </a:pPr>
            <a:r>
              <a:rPr lang="en-US" sz="1200" b="1" dirty="0">
                <a:solidFill>
                  <a:schemeClr val="accent3"/>
                </a:solidFill>
              </a:rPr>
              <a:t>WHAT IT COMPUTES</a:t>
            </a:r>
            <a:endParaRPr lang="en-US" sz="1200" dirty="0"/>
          </a:p>
          <a:p>
            <a:pPr indent="0" marL="0">
              <a:buNone/>
            </a:pPr>
            <a:r>
              <a:rPr lang="en-US" sz="800" dirty="0">
                <a:solidFill>
                  <a:srgbClr val="000000"/>
                </a:solidFill>
              </a:rPr>
              <a:t> </a:t>
            </a:r>
            <a:endParaRPr lang="en-US" sz="1200" dirty="0"/>
          </a:p>
          <a:p>
            <a:pPr indent="0" marL="0">
              <a:buNone/>
            </a:pPr>
            <a:r>
              <a:rPr lang="en-US" sz="2000" dirty="0">
                <a:solidFill>
                  <a:schemeClr val="bg1"/>
                </a:solidFill>
                <a:latin typeface="Courier New" pitchFamily="34" charset="0"/>
                <a:ea typeface="Courier New" pitchFamily="34" charset="-122"/>
                <a:cs typeface="Courier New" pitchFamily="34" charset="-120"/>
              </a:rPr>
              <a:t>  A3 A2 A1 A0</a:t>
            </a:r>
            <a:endParaRPr lang="en-US" sz="1200" dirty="0"/>
          </a:p>
          <a:p>
            <a:pPr indent="0" marL="0">
              <a:buNone/>
            </a:pPr>
            <a:r>
              <a:rPr lang="en-US" sz="2000" dirty="0">
                <a:solidFill>
                  <a:schemeClr val="bg1"/>
                </a:solidFill>
                <a:latin typeface="Courier New" pitchFamily="34" charset="0"/>
                <a:ea typeface="Courier New" pitchFamily="34" charset="-122"/>
                <a:cs typeface="Courier New" pitchFamily="34" charset="-120"/>
              </a:rPr>
              <a:t>+ B3 B2 B1 B0</a:t>
            </a:r>
            <a:endParaRPr lang="en-US" sz="1200" dirty="0"/>
          </a:p>
          <a:p>
            <a:pPr indent="0" marL="0">
              <a:buNone/>
            </a:pPr>
            <a:r>
              <a:rPr lang="en-US" sz="2000" dirty="0">
                <a:solidFill>
                  <a:schemeClr val="bg1"/>
                </a:solidFill>
                <a:latin typeface="Courier New" pitchFamily="34" charset="0"/>
                <a:ea typeface="Courier New" pitchFamily="34" charset="-122"/>
                <a:cs typeface="Courier New" pitchFamily="34" charset="-120"/>
              </a:rPr>
              <a:t>+ Cin</a:t>
            </a:r>
            <a:endParaRPr lang="en-US" sz="1200" dirty="0"/>
          </a:p>
          <a:p>
            <a:pPr indent="0" marL="0">
              <a:buNone/>
            </a:pPr>
            <a:r>
              <a:rPr lang="en-US" sz="2000" b="1" dirty="0">
                <a:solidFill>
                  <a:schemeClr val="accent2"/>
                </a:solidFill>
                <a:latin typeface="Courier New" pitchFamily="34" charset="0"/>
                <a:ea typeface="Courier New" pitchFamily="34" charset="-122"/>
                <a:cs typeface="Courier New" pitchFamily="34" charset="-120"/>
              </a:rPr>
              <a:t>= Cout S3 S2 S1 S0</a:t>
            </a:r>
            <a:endParaRPr lang="en-US" sz="1200" dirty="0"/>
          </a:p>
          <a:p>
            <a:pPr indent="0" marL="0">
              <a:buNone/>
            </a:pPr>
            <a:r>
              <a:rPr lang="en-US" sz="800" dirty="0">
                <a:solidFill>
                  <a:srgbClr val="000000"/>
                </a:solidFill>
              </a:rPr>
              <a:t> </a:t>
            </a:r>
            <a:endParaRPr lang="en-US" sz="1200" dirty="0"/>
          </a:p>
          <a:p>
            <a:pPr indent="0" marL="0">
              <a:buNone/>
            </a:pPr>
            <a:r>
              <a:rPr lang="en-US" sz="1400" dirty="0">
                <a:solidFill>
                  <a:schemeClr val="accent3"/>
                </a:solidFill>
              </a:rPr>
              <a:t>Adding two 4-bit numbers needs 5 output bits.</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000" b="1" dirty="0">
                <a:solidFill>
                  <a:schemeClr val="tx1"/>
                </a:solidFill>
              </a:rPr>
              <a:t>The full adder: the building block</a:t>
            </a:r>
            <a:endParaRPr lang="en-US" sz="3000" dirty="0"/>
          </a:p>
        </p:txBody>
      </p:sp>
      <p:graphicFrame>
        <p:nvGraphicFramePr>
          <p:cNvPr id="4" name="Truth table"/>
          <p:cNvGraphicFramePr>
            <a:graphicFrameLocks noGrp="1"/>
          </p:cNvGraphicFramePr>
          <p:nvPr>
            <p:extLst>
              <p:ext uri="{D42A27DB-BD31-4B8C-83A1-F6EECF244321}">
                <p14:modId xmlns:p14="http://schemas.microsoft.com/office/powerpoint/2010/main" val="1579011935"/>
              </p:ext>
            </p:extLst>
          </p:nvPr>
        </p:nvGraphicFramePr>
        <p:xfrm>
          <a:off x="457200" y="1280160"/>
          <a:ext cx="4206240" cy="914400"/>
        </p:xfrm>
        <a:graphic>
          <a:graphicData uri="http://schemas.openxmlformats.org/drawingml/2006/table">
            <a:tbl>
              <a:tblPr/>
              <a:tblGrid>
                <a:gridCol w="731520"/>
                <a:gridCol w="731520"/>
                <a:gridCol w="731520"/>
                <a:gridCol w="1005840"/>
                <a:gridCol w="1005840"/>
              </a:tblGrid>
              <a:tr h="329184">
                <a:tc>
                  <a:txBody>
                    <a:bodyPr/>
                    <a:lstStyle/>
                    <a:p>
                      <a:pPr algn="ctr" indent="0" marL="0">
                        <a:buNone/>
                      </a:pPr>
                      <a:r>
                        <a:rPr lang="en-US" sz="1400" b="1" dirty="0">
                          <a:solidFill>
                            <a:schemeClr val="bg1"/>
                          </a:solidFill>
                        </a:rPr>
                        <a:t>A</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B</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Cin</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Sum</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Cout</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tx1"/>
                    </a:solidFill>
                  </a:tcPr>
                </a:tc>
              </a:tr>
              <a:tr h="329184">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r>
              <a:tr h="329184">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1</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r>
              <a:tr h="329184">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1</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r>
              <a:tr h="329184">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1</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accent2"/>
                    </a:solidFill>
                  </a:tcPr>
                </a:tc>
              </a:tr>
              <a:tr h="329184">
                <a:tc>
                  <a:txBody>
                    <a:bodyPr/>
                    <a:lstStyle/>
                    <a:p>
                      <a:pPr algn="ctr" indent="0" marL="0">
                        <a:buNone/>
                      </a:pPr>
                      <a:r>
                        <a:rPr lang="en-US" sz="1400" dirty="0">
                          <a:solidFill>
                            <a:schemeClr val="tx1"/>
                          </a:solidFill>
                        </a:rPr>
                        <a:t>1</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1</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r>
              <a:tr h="329184">
                <a:tc>
                  <a:txBody>
                    <a:bodyPr/>
                    <a:lstStyle/>
                    <a:p>
                      <a:pPr algn="ctr" indent="0" marL="0">
                        <a:buNone/>
                      </a:pPr>
                      <a:r>
                        <a:rPr lang="en-US" sz="1400" dirty="0">
                          <a:solidFill>
                            <a:schemeClr val="tx1"/>
                          </a:solidFill>
                        </a:rPr>
                        <a:t>1</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1</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accent2"/>
                    </a:solidFill>
                  </a:tcPr>
                </a:tc>
              </a:tr>
              <a:tr h="329184">
                <a:tc>
                  <a:txBody>
                    <a:bodyPr/>
                    <a:lstStyle/>
                    <a:p>
                      <a:pPr algn="ctr" indent="0" marL="0">
                        <a:buNone/>
                      </a:pPr>
                      <a:r>
                        <a:rPr lang="en-US" sz="1400" dirty="0">
                          <a:solidFill>
                            <a:schemeClr val="tx1"/>
                          </a:solidFill>
                        </a:rPr>
                        <a:t>1</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1</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accent2"/>
                    </a:solidFill>
                  </a:tcPr>
                </a:tc>
              </a:tr>
              <a:tr h="329184">
                <a:tc>
                  <a:txBody>
                    <a:bodyPr/>
                    <a:lstStyle/>
                    <a:p>
                      <a:pPr algn="ctr" indent="0" marL="0">
                        <a:buNone/>
                      </a:pPr>
                      <a:r>
                        <a:rPr lang="en-US" sz="1400" dirty="0">
                          <a:solidFill>
                            <a:schemeClr val="tx1"/>
                          </a:solidFill>
                        </a:rPr>
                        <a:t>1</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1</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1</a:t>
                      </a:r>
                      <a:endParaRPr lang="en-US" sz="14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accent2"/>
                    </a:solidFill>
                  </a:tcPr>
                </a:tc>
              </a:tr>
            </a:tbl>
          </a:graphicData>
        </a:graphic>
      </p:graphicFrame>
      <p:sp>
        <p:nvSpPr>
          <p:cNvPr id="4" name="Sum card"/>
          <p:cNvSpPr/>
          <p:nvPr/>
        </p:nvSpPr>
        <p:spPr>
          <a:xfrm>
            <a:off x="5029200" y="1280160"/>
            <a:ext cx="3657600" cy="1097280"/>
          </a:xfrm>
          <a:prstGeom prst="roundRect">
            <a:avLst>
              <a:gd name="adj" fmla="val 10000"/>
            </a:avLst>
          </a:prstGeom>
          <a:solidFill>
            <a:schemeClr val="bg2"/>
          </a:solidFill>
          <a:ln w="12700">
            <a:solidFill>
              <a:schemeClr val="bg2"/>
            </a:solidFill>
            <a:prstDash val="solid"/>
          </a:ln>
        </p:spPr>
      </p:sp>
      <p:sp>
        <p:nvSpPr>
          <p:cNvPr id="5" name="Sum equation"/>
          <p:cNvSpPr txBox="1"/>
          <p:nvPr/>
        </p:nvSpPr>
        <p:spPr>
          <a:xfrm>
            <a:off x="5257800" y="1325880"/>
            <a:ext cx="3200400" cy="1005840"/>
          </a:xfrm>
          <a:prstGeom prst="rect">
            <a:avLst/>
          </a:prstGeom>
          <a:noFill/>
          <a:ln/>
        </p:spPr>
        <p:txBody>
          <a:bodyPr wrap="square" lIns="0" tIns="0" rIns="0" bIns="0" rtlCol="0" anchor="ctr"/>
          <a:lstStyle/>
          <a:p>
            <a:pPr indent="0" marL="0">
              <a:buNone/>
            </a:pPr>
            <a:r>
              <a:rPr lang="en-US" sz="1200" b="1" dirty="0">
                <a:solidFill>
                  <a:schemeClr val="accent4"/>
                </a:solidFill>
              </a:rPr>
              <a:t>SUM</a:t>
            </a:r>
            <a:endParaRPr lang="en-US" sz="1200" dirty="0"/>
          </a:p>
          <a:p>
            <a:pPr indent="0" marL="0">
              <a:buNone/>
            </a:pPr>
            <a:r>
              <a:rPr lang="en-US" sz="2400" b="1" dirty="0">
                <a:solidFill>
                  <a:schemeClr val="tx1"/>
                </a:solidFill>
              </a:rPr>
              <a:t>A XOR B XOR Cin</a:t>
            </a:r>
            <a:endParaRPr lang="en-US" sz="1200" dirty="0"/>
          </a:p>
        </p:txBody>
      </p:sp>
      <p:sp>
        <p:nvSpPr>
          <p:cNvPr id="6" name="Carry card"/>
          <p:cNvSpPr/>
          <p:nvPr/>
        </p:nvSpPr>
        <p:spPr>
          <a:xfrm>
            <a:off x="5029200" y="2560320"/>
            <a:ext cx="3657600" cy="1097280"/>
          </a:xfrm>
          <a:prstGeom prst="roundRect">
            <a:avLst>
              <a:gd name="adj" fmla="val 10000"/>
            </a:avLst>
          </a:prstGeom>
          <a:solidFill>
            <a:schemeClr val="bg2"/>
          </a:solidFill>
          <a:ln w="12700">
            <a:solidFill>
              <a:schemeClr val="bg2"/>
            </a:solidFill>
            <a:prstDash val="solid"/>
          </a:ln>
        </p:spPr>
      </p:sp>
      <p:sp>
        <p:nvSpPr>
          <p:cNvPr id="7" name="Carry equation"/>
          <p:cNvSpPr txBox="1"/>
          <p:nvPr/>
        </p:nvSpPr>
        <p:spPr>
          <a:xfrm>
            <a:off x="5257800" y="2606040"/>
            <a:ext cx="3200400" cy="1005840"/>
          </a:xfrm>
          <a:prstGeom prst="rect">
            <a:avLst/>
          </a:prstGeom>
          <a:noFill/>
          <a:ln/>
        </p:spPr>
        <p:txBody>
          <a:bodyPr wrap="square" lIns="0" tIns="0" rIns="0" bIns="0" rtlCol="0" anchor="ctr"/>
          <a:lstStyle/>
          <a:p>
            <a:pPr indent="0" marL="0">
              <a:buNone/>
            </a:pPr>
            <a:r>
              <a:rPr lang="en-US" sz="1200" b="1" dirty="0">
                <a:solidFill>
                  <a:schemeClr val="accent4"/>
                </a:solidFill>
              </a:rPr>
              <a:t>CARRY OUT</a:t>
            </a:r>
            <a:endParaRPr lang="en-US" sz="1200" dirty="0"/>
          </a:p>
          <a:p>
            <a:pPr indent="0" marL="0">
              <a:buNone/>
            </a:pPr>
            <a:r>
              <a:rPr lang="en-US" sz="2400" b="1" dirty="0">
                <a:solidFill>
                  <a:schemeClr val="tx1"/>
                </a:solidFill>
              </a:rPr>
              <a:t>A·B + Cin·(A XOR B)</a:t>
            </a:r>
            <a:endParaRPr lang="en-US" sz="1200" dirty="0"/>
          </a:p>
        </p:txBody>
      </p:sp>
      <p:sp>
        <p:nvSpPr>
          <p:cNvPr id="8" name="Table note"/>
          <p:cNvSpPr txBox="1"/>
          <p:nvPr/>
        </p:nvSpPr>
        <p:spPr>
          <a:xfrm>
            <a:off x="5029200" y="3840480"/>
            <a:ext cx="3657600" cy="777240"/>
          </a:xfrm>
          <a:prstGeom prst="rect">
            <a:avLst/>
          </a:prstGeom>
          <a:noFill/>
          <a:ln/>
        </p:spPr>
        <p:txBody>
          <a:bodyPr wrap="square" lIns="0" tIns="0" rIns="0" bIns="0" rtlCol="0" anchor="t"/>
          <a:lstStyle/>
          <a:p>
            <a:pPr indent="0" marL="0">
              <a:buNone/>
            </a:pPr>
            <a:r>
              <a:rPr lang="en-US" sz="1400" dirty="0">
                <a:solidFill>
                  <a:schemeClr val="tx1"/>
                </a:solidFill>
              </a:rPr>
              <a:t>Sum is 1 when an odd number of inputs are 1. Cout is 1 when two or more inputs are 1 (highlighted rows).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000" b="1" dirty="0">
                <a:solidFill>
                  <a:schemeClr val="tx1"/>
                </a:solidFill>
              </a:rPr>
              <a:t>Full adder at gate level</a:t>
            </a:r>
            <a:endParaRPr lang="en-US" sz="3000" dirty="0"/>
          </a:p>
        </p:txBody>
      </p:sp>
      <p:sp>
        <p:nvSpPr>
          <p:cNvPr id="3" name="Label"/>
          <p:cNvSpPr txBox="1"/>
          <p:nvPr/>
        </p:nvSpPr>
        <p:spPr>
          <a:xfrm>
            <a:off x="457200" y="1325880"/>
            <a:ext cx="640080" cy="274320"/>
          </a:xfrm>
          <a:prstGeom prst="rect">
            <a:avLst/>
          </a:prstGeom>
          <a:noFill/>
          <a:ln/>
        </p:spPr>
        <p:txBody>
          <a:bodyPr wrap="square" lIns="0" tIns="0" rIns="0" bIns="0" rtlCol="0" anchor="ctr"/>
          <a:lstStyle/>
          <a:p>
            <a:pPr algn="ctr" indent="0" marL="0">
              <a:buNone/>
            </a:pPr>
            <a:r>
              <a:rPr lang="en-US" sz="1600" b="1" dirty="0">
                <a:solidFill>
                  <a:schemeClr val="tx1"/>
                </a:solidFill>
              </a:rPr>
              <a:t>A</a:t>
            </a:r>
            <a:endParaRPr lang="en-US" sz="1600" dirty="0"/>
          </a:p>
        </p:txBody>
      </p:sp>
      <p:sp>
        <p:nvSpPr>
          <p:cNvPr id="4" name="Label"/>
          <p:cNvSpPr txBox="1"/>
          <p:nvPr/>
        </p:nvSpPr>
        <p:spPr>
          <a:xfrm>
            <a:off x="457200" y="1874520"/>
            <a:ext cx="640080" cy="274320"/>
          </a:xfrm>
          <a:prstGeom prst="rect">
            <a:avLst/>
          </a:prstGeom>
          <a:noFill/>
          <a:ln/>
        </p:spPr>
        <p:txBody>
          <a:bodyPr wrap="square" lIns="0" tIns="0" rIns="0" bIns="0" rtlCol="0" anchor="ctr"/>
          <a:lstStyle/>
          <a:p>
            <a:pPr algn="ctr" indent="0" marL="0">
              <a:buNone/>
            </a:pPr>
            <a:r>
              <a:rPr lang="en-US" sz="1600" b="1" dirty="0">
                <a:solidFill>
                  <a:schemeClr val="tx1"/>
                </a:solidFill>
              </a:rPr>
              <a:t>B</a:t>
            </a:r>
            <a:endParaRPr lang="en-US" sz="1600" dirty="0"/>
          </a:p>
        </p:txBody>
      </p:sp>
      <p:sp>
        <p:nvSpPr>
          <p:cNvPr id="5" name="Label"/>
          <p:cNvSpPr txBox="1"/>
          <p:nvPr/>
        </p:nvSpPr>
        <p:spPr>
          <a:xfrm>
            <a:off x="457200" y="2971800"/>
            <a:ext cx="640080" cy="274320"/>
          </a:xfrm>
          <a:prstGeom prst="rect">
            <a:avLst/>
          </a:prstGeom>
          <a:noFill/>
          <a:ln/>
        </p:spPr>
        <p:txBody>
          <a:bodyPr wrap="square" lIns="0" tIns="0" rIns="0" bIns="0" rtlCol="0" anchor="ctr"/>
          <a:lstStyle/>
          <a:p>
            <a:pPr algn="ctr" indent="0" marL="0">
              <a:buNone/>
            </a:pPr>
            <a:r>
              <a:rPr lang="en-US" sz="1600" b="1" dirty="0">
                <a:solidFill>
                  <a:schemeClr val="tx1"/>
                </a:solidFill>
              </a:rPr>
              <a:t>Cin</a:t>
            </a:r>
            <a:endParaRPr lang="en-US" sz="1600" dirty="0"/>
          </a:p>
        </p:txBody>
      </p:sp>
      <p:sp>
        <p:nvSpPr>
          <p:cNvPr id="6" name="XOR 1"/>
          <p:cNvSpPr txBox="1"/>
          <p:nvPr/>
        </p:nvSpPr>
        <p:spPr>
          <a:xfrm>
            <a:off x="2103120" y="1280160"/>
            <a:ext cx="1005840" cy="914400"/>
          </a:xfrm>
          <a:prstGeom prst="roundRect">
            <a:avLst>
              <a:gd name="adj" fmla="val 10000"/>
            </a:avLst>
          </a:prstGeom>
          <a:solidFill>
            <a:schemeClr val="accent1"/>
          </a:solidFill>
          <a:ln/>
        </p:spPr>
        <p:txBody>
          <a:bodyPr wrap="square" lIns="508" tIns="508" rIns="508" bIns="508" rtlCol="0" anchor="ctr"/>
          <a:lstStyle/>
          <a:p>
            <a:pPr algn="ctr" indent="0" marL="0">
              <a:buNone/>
            </a:pPr>
            <a:r>
              <a:rPr lang="en-US" sz="1400" b="1" dirty="0">
                <a:solidFill>
                  <a:schemeClr val="bg1"/>
                </a:solidFill>
              </a:rPr>
              <a:t>XOR</a:t>
            </a:r>
            <a:endParaRPr lang="en-US" sz="1400" dirty="0"/>
          </a:p>
        </p:txBody>
      </p:sp>
      <p:sp>
        <p:nvSpPr>
          <p:cNvPr id="7" name="AND 1"/>
          <p:cNvSpPr txBox="1"/>
          <p:nvPr/>
        </p:nvSpPr>
        <p:spPr>
          <a:xfrm>
            <a:off x="2103120" y="3566160"/>
            <a:ext cx="1005840" cy="822960"/>
          </a:xfrm>
          <a:prstGeom prst="roundRect">
            <a:avLst>
              <a:gd name="adj" fmla="val 11111"/>
            </a:avLst>
          </a:prstGeom>
          <a:solidFill>
            <a:schemeClr val="accent1"/>
          </a:solidFill>
          <a:ln/>
        </p:spPr>
        <p:txBody>
          <a:bodyPr wrap="square" lIns="508" tIns="508" rIns="508" bIns="508" rtlCol="0" anchor="ctr"/>
          <a:lstStyle/>
          <a:p>
            <a:pPr algn="ctr" indent="0" marL="0">
              <a:buNone/>
            </a:pPr>
            <a:r>
              <a:rPr lang="en-US" sz="1400" b="1" dirty="0">
                <a:solidFill>
                  <a:schemeClr val="bg1"/>
                </a:solidFill>
              </a:rPr>
              <a:t>AND</a:t>
            </a:r>
            <a:endParaRPr lang="en-US" sz="1400" dirty="0"/>
          </a:p>
        </p:txBody>
      </p:sp>
      <p:sp>
        <p:nvSpPr>
          <p:cNvPr id="8" name="XOR 2"/>
          <p:cNvSpPr txBox="1"/>
          <p:nvPr/>
        </p:nvSpPr>
        <p:spPr>
          <a:xfrm>
            <a:off x="4206240" y="1280160"/>
            <a:ext cx="1005840" cy="914400"/>
          </a:xfrm>
          <a:prstGeom prst="roundRect">
            <a:avLst>
              <a:gd name="adj" fmla="val 10000"/>
            </a:avLst>
          </a:prstGeom>
          <a:solidFill>
            <a:schemeClr val="accent1"/>
          </a:solidFill>
          <a:ln/>
        </p:spPr>
        <p:txBody>
          <a:bodyPr wrap="square" lIns="508" tIns="508" rIns="508" bIns="508" rtlCol="0" anchor="ctr"/>
          <a:lstStyle/>
          <a:p>
            <a:pPr algn="ctr" indent="0" marL="0">
              <a:buNone/>
            </a:pPr>
            <a:r>
              <a:rPr lang="en-US" sz="1400" b="1" dirty="0">
                <a:solidFill>
                  <a:schemeClr val="bg1"/>
                </a:solidFill>
              </a:rPr>
              <a:t>XOR</a:t>
            </a:r>
            <a:endParaRPr lang="en-US" sz="1400" dirty="0"/>
          </a:p>
        </p:txBody>
      </p:sp>
      <p:sp>
        <p:nvSpPr>
          <p:cNvPr id="9" name="AND 2"/>
          <p:cNvSpPr txBox="1"/>
          <p:nvPr/>
        </p:nvSpPr>
        <p:spPr>
          <a:xfrm>
            <a:off x="4206240" y="2468880"/>
            <a:ext cx="1005840" cy="914400"/>
          </a:xfrm>
          <a:prstGeom prst="roundRect">
            <a:avLst>
              <a:gd name="adj" fmla="val 10000"/>
            </a:avLst>
          </a:prstGeom>
          <a:solidFill>
            <a:schemeClr val="accent2"/>
          </a:solidFill>
          <a:ln/>
        </p:spPr>
        <p:txBody>
          <a:bodyPr wrap="square" lIns="508" tIns="508" rIns="508" bIns="508" rtlCol="0" anchor="ctr"/>
          <a:lstStyle/>
          <a:p>
            <a:pPr algn="ctr" indent="0" marL="0">
              <a:buNone/>
            </a:pPr>
            <a:r>
              <a:rPr lang="en-US" sz="1400" b="1" dirty="0">
                <a:solidFill>
                  <a:schemeClr val="tx1"/>
                </a:solidFill>
              </a:rPr>
              <a:t>AND</a:t>
            </a:r>
            <a:endParaRPr lang="en-US" sz="1400" dirty="0"/>
          </a:p>
        </p:txBody>
      </p:sp>
      <p:sp>
        <p:nvSpPr>
          <p:cNvPr id="10" name="OR"/>
          <p:cNvSpPr txBox="1"/>
          <p:nvPr/>
        </p:nvSpPr>
        <p:spPr>
          <a:xfrm>
            <a:off x="6126480" y="2468880"/>
            <a:ext cx="1005840" cy="914400"/>
          </a:xfrm>
          <a:prstGeom prst="roundRect">
            <a:avLst>
              <a:gd name="adj" fmla="val 10000"/>
            </a:avLst>
          </a:prstGeom>
          <a:solidFill>
            <a:schemeClr val="accent2"/>
          </a:solidFill>
          <a:ln/>
        </p:spPr>
        <p:txBody>
          <a:bodyPr wrap="square" lIns="508" tIns="508" rIns="508" bIns="508" rtlCol="0" anchor="ctr"/>
          <a:lstStyle/>
          <a:p>
            <a:pPr algn="ctr" indent="0" marL="0">
              <a:buNone/>
            </a:pPr>
            <a:r>
              <a:rPr lang="en-US" sz="1400" b="1" dirty="0">
                <a:solidFill>
                  <a:schemeClr val="tx1"/>
                </a:solidFill>
              </a:rPr>
              <a:t>OR</a:t>
            </a:r>
            <a:endParaRPr lang="en-US" sz="1400" dirty="0"/>
          </a:p>
        </p:txBody>
      </p:sp>
      <p:sp>
        <p:nvSpPr>
          <p:cNvPr id="11" name="Wire"/>
          <p:cNvSpPr/>
          <p:nvPr/>
        </p:nvSpPr>
        <p:spPr>
          <a:xfrm>
            <a:off x="1097280" y="1463040"/>
            <a:ext cx="1005840" cy="0"/>
          </a:xfrm>
          <a:prstGeom prst="line">
            <a:avLst/>
          </a:prstGeom>
          <a:noFill/>
          <a:ln w="28575">
            <a:solidFill>
              <a:schemeClr val="tx1"/>
            </a:solidFill>
            <a:prstDash val="solid"/>
          </a:ln>
        </p:spPr>
      </p:sp>
      <p:sp>
        <p:nvSpPr>
          <p:cNvPr id="12" name="Wire"/>
          <p:cNvSpPr/>
          <p:nvPr/>
        </p:nvSpPr>
        <p:spPr>
          <a:xfrm>
            <a:off x="1097280" y="2011680"/>
            <a:ext cx="1005840" cy="0"/>
          </a:xfrm>
          <a:prstGeom prst="line">
            <a:avLst/>
          </a:prstGeom>
          <a:noFill/>
          <a:ln w="28575">
            <a:solidFill>
              <a:schemeClr val="tx1"/>
            </a:solidFill>
            <a:prstDash val="solid"/>
          </a:ln>
        </p:spPr>
      </p:sp>
      <p:sp>
        <p:nvSpPr>
          <p:cNvPr id="13" name="Wire"/>
          <p:cNvSpPr/>
          <p:nvPr/>
        </p:nvSpPr>
        <p:spPr>
          <a:xfrm>
            <a:off x="1463040" y="1463040"/>
            <a:ext cx="0" cy="2286000"/>
          </a:xfrm>
          <a:prstGeom prst="line">
            <a:avLst/>
          </a:prstGeom>
          <a:noFill/>
          <a:ln w="28575">
            <a:solidFill>
              <a:schemeClr val="tx1"/>
            </a:solidFill>
            <a:prstDash val="solid"/>
          </a:ln>
        </p:spPr>
      </p:sp>
      <p:sp>
        <p:nvSpPr>
          <p:cNvPr id="14" name="Wire"/>
          <p:cNvSpPr/>
          <p:nvPr/>
        </p:nvSpPr>
        <p:spPr>
          <a:xfrm>
            <a:off x="1463040" y="3749040"/>
            <a:ext cx="640080" cy="0"/>
          </a:xfrm>
          <a:prstGeom prst="line">
            <a:avLst/>
          </a:prstGeom>
          <a:noFill/>
          <a:ln w="28575">
            <a:solidFill>
              <a:schemeClr val="tx1"/>
            </a:solidFill>
            <a:prstDash val="solid"/>
          </a:ln>
        </p:spPr>
      </p:sp>
      <p:sp>
        <p:nvSpPr>
          <p:cNvPr id="15" name="Wire"/>
          <p:cNvSpPr/>
          <p:nvPr/>
        </p:nvSpPr>
        <p:spPr>
          <a:xfrm>
            <a:off x="1828800" y="2011680"/>
            <a:ext cx="0" cy="2103120"/>
          </a:xfrm>
          <a:prstGeom prst="line">
            <a:avLst/>
          </a:prstGeom>
          <a:noFill/>
          <a:ln w="28575">
            <a:solidFill>
              <a:schemeClr val="tx1"/>
            </a:solidFill>
            <a:prstDash val="solid"/>
          </a:ln>
        </p:spPr>
      </p:sp>
      <p:sp>
        <p:nvSpPr>
          <p:cNvPr id="16" name="Wire"/>
          <p:cNvSpPr/>
          <p:nvPr/>
        </p:nvSpPr>
        <p:spPr>
          <a:xfrm>
            <a:off x="1828800" y="4114800"/>
            <a:ext cx="274320" cy="0"/>
          </a:xfrm>
          <a:prstGeom prst="line">
            <a:avLst/>
          </a:prstGeom>
          <a:noFill/>
          <a:ln w="28575">
            <a:solidFill>
              <a:schemeClr val="tx1"/>
            </a:solidFill>
            <a:prstDash val="solid"/>
          </a:ln>
        </p:spPr>
      </p:sp>
      <p:sp>
        <p:nvSpPr>
          <p:cNvPr id="17" name="Junction"/>
          <p:cNvSpPr/>
          <p:nvPr/>
        </p:nvSpPr>
        <p:spPr>
          <a:xfrm>
            <a:off x="1408176" y="1408176"/>
            <a:ext cx="109728" cy="109728"/>
          </a:xfrm>
          <a:prstGeom prst="ellipse">
            <a:avLst/>
          </a:prstGeom>
          <a:solidFill>
            <a:schemeClr val="tx1"/>
          </a:solidFill>
          <a:ln w="6350">
            <a:solidFill>
              <a:schemeClr val="tx1"/>
            </a:solidFill>
            <a:prstDash val="solid"/>
          </a:ln>
        </p:spPr>
      </p:sp>
      <p:sp>
        <p:nvSpPr>
          <p:cNvPr id="18" name="Junction"/>
          <p:cNvSpPr/>
          <p:nvPr/>
        </p:nvSpPr>
        <p:spPr>
          <a:xfrm>
            <a:off x="1773936" y="1956816"/>
            <a:ext cx="109728" cy="109728"/>
          </a:xfrm>
          <a:prstGeom prst="ellipse">
            <a:avLst/>
          </a:prstGeom>
          <a:solidFill>
            <a:schemeClr val="tx1"/>
          </a:solidFill>
          <a:ln w="6350">
            <a:solidFill>
              <a:schemeClr val="tx1"/>
            </a:solidFill>
            <a:prstDash val="solid"/>
          </a:ln>
        </p:spPr>
      </p:sp>
      <p:sp>
        <p:nvSpPr>
          <p:cNvPr id="19" name="Wire"/>
          <p:cNvSpPr/>
          <p:nvPr/>
        </p:nvSpPr>
        <p:spPr>
          <a:xfrm>
            <a:off x="3108960" y="1645920"/>
            <a:ext cx="1097280" cy="0"/>
          </a:xfrm>
          <a:prstGeom prst="line">
            <a:avLst/>
          </a:prstGeom>
          <a:noFill/>
          <a:ln w="28575">
            <a:solidFill>
              <a:schemeClr val="tx1"/>
            </a:solidFill>
            <a:prstDash val="solid"/>
          </a:ln>
        </p:spPr>
      </p:sp>
      <p:sp>
        <p:nvSpPr>
          <p:cNvPr id="20" name="Wire"/>
          <p:cNvSpPr/>
          <p:nvPr/>
        </p:nvSpPr>
        <p:spPr>
          <a:xfrm>
            <a:off x="3657600" y="1645920"/>
            <a:ext cx="0" cy="1097280"/>
          </a:xfrm>
          <a:prstGeom prst="line">
            <a:avLst/>
          </a:prstGeom>
          <a:noFill/>
          <a:ln w="28575">
            <a:solidFill>
              <a:schemeClr val="tx1"/>
            </a:solidFill>
            <a:prstDash val="solid"/>
          </a:ln>
        </p:spPr>
      </p:sp>
      <p:sp>
        <p:nvSpPr>
          <p:cNvPr id="21" name="Wire"/>
          <p:cNvSpPr/>
          <p:nvPr/>
        </p:nvSpPr>
        <p:spPr>
          <a:xfrm>
            <a:off x="3657600" y="2743200"/>
            <a:ext cx="548640" cy="0"/>
          </a:xfrm>
          <a:prstGeom prst="line">
            <a:avLst/>
          </a:prstGeom>
          <a:noFill/>
          <a:ln w="28575">
            <a:solidFill>
              <a:schemeClr val="tx1"/>
            </a:solidFill>
            <a:prstDash val="solid"/>
          </a:ln>
        </p:spPr>
      </p:sp>
      <p:sp>
        <p:nvSpPr>
          <p:cNvPr id="22" name="Junction"/>
          <p:cNvSpPr/>
          <p:nvPr/>
        </p:nvSpPr>
        <p:spPr>
          <a:xfrm>
            <a:off x="3602736" y="1591056"/>
            <a:ext cx="109728" cy="109728"/>
          </a:xfrm>
          <a:prstGeom prst="ellipse">
            <a:avLst/>
          </a:prstGeom>
          <a:solidFill>
            <a:schemeClr val="tx1"/>
          </a:solidFill>
          <a:ln w="6350">
            <a:solidFill>
              <a:schemeClr val="tx1"/>
            </a:solidFill>
            <a:prstDash val="solid"/>
          </a:ln>
        </p:spPr>
      </p:sp>
      <p:sp>
        <p:nvSpPr>
          <p:cNvPr id="23" name="Wire"/>
          <p:cNvSpPr/>
          <p:nvPr/>
        </p:nvSpPr>
        <p:spPr>
          <a:xfrm>
            <a:off x="1097280" y="3108960"/>
            <a:ext cx="3108960" cy="0"/>
          </a:xfrm>
          <a:prstGeom prst="line">
            <a:avLst/>
          </a:prstGeom>
          <a:noFill/>
          <a:ln w="28575">
            <a:solidFill>
              <a:schemeClr val="accent2"/>
            </a:solidFill>
            <a:prstDash val="solid"/>
          </a:ln>
        </p:spPr>
      </p:sp>
      <p:sp>
        <p:nvSpPr>
          <p:cNvPr id="24" name="Wire"/>
          <p:cNvSpPr/>
          <p:nvPr/>
        </p:nvSpPr>
        <p:spPr>
          <a:xfrm>
            <a:off x="3931920" y="2011680"/>
            <a:ext cx="0" cy="1097280"/>
          </a:xfrm>
          <a:prstGeom prst="line">
            <a:avLst/>
          </a:prstGeom>
          <a:noFill/>
          <a:ln w="28575">
            <a:solidFill>
              <a:schemeClr val="accent2"/>
            </a:solidFill>
            <a:prstDash val="solid"/>
          </a:ln>
        </p:spPr>
      </p:sp>
      <p:sp>
        <p:nvSpPr>
          <p:cNvPr id="25" name="Wire"/>
          <p:cNvSpPr/>
          <p:nvPr/>
        </p:nvSpPr>
        <p:spPr>
          <a:xfrm>
            <a:off x="3931920" y="2011680"/>
            <a:ext cx="274320" cy="0"/>
          </a:xfrm>
          <a:prstGeom prst="line">
            <a:avLst/>
          </a:prstGeom>
          <a:noFill/>
          <a:ln w="28575">
            <a:solidFill>
              <a:schemeClr val="accent2"/>
            </a:solidFill>
            <a:prstDash val="solid"/>
          </a:ln>
        </p:spPr>
      </p:sp>
      <p:sp>
        <p:nvSpPr>
          <p:cNvPr id="26" name="Junction"/>
          <p:cNvSpPr/>
          <p:nvPr/>
        </p:nvSpPr>
        <p:spPr>
          <a:xfrm>
            <a:off x="3877056" y="3054096"/>
            <a:ext cx="109728" cy="109728"/>
          </a:xfrm>
          <a:prstGeom prst="ellipse">
            <a:avLst/>
          </a:prstGeom>
          <a:solidFill>
            <a:schemeClr val="accent2"/>
          </a:solidFill>
          <a:ln w="6350">
            <a:solidFill>
              <a:schemeClr val="accent2"/>
            </a:solidFill>
            <a:prstDash val="solid"/>
          </a:ln>
        </p:spPr>
      </p:sp>
      <p:sp>
        <p:nvSpPr>
          <p:cNvPr id="27" name="Wire"/>
          <p:cNvSpPr/>
          <p:nvPr/>
        </p:nvSpPr>
        <p:spPr>
          <a:xfrm>
            <a:off x="5212080" y="1737360"/>
            <a:ext cx="2560320" cy="0"/>
          </a:xfrm>
          <a:prstGeom prst="line">
            <a:avLst/>
          </a:prstGeom>
          <a:noFill/>
          <a:ln w="28575">
            <a:solidFill>
              <a:schemeClr val="tx1"/>
            </a:solidFill>
            <a:prstDash val="solid"/>
            <a:tailEnd type="triangle"/>
          </a:ln>
        </p:spPr>
      </p:sp>
      <p:sp>
        <p:nvSpPr>
          <p:cNvPr id="28" name="Label"/>
          <p:cNvSpPr txBox="1"/>
          <p:nvPr/>
        </p:nvSpPr>
        <p:spPr>
          <a:xfrm>
            <a:off x="7863840" y="1600200"/>
            <a:ext cx="731520" cy="274320"/>
          </a:xfrm>
          <a:prstGeom prst="rect">
            <a:avLst/>
          </a:prstGeom>
          <a:noFill/>
          <a:ln/>
        </p:spPr>
        <p:txBody>
          <a:bodyPr wrap="square" lIns="0" tIns="0" rIns="0" bIns="0" rtlCol="0" anchor="ctr"/>
          <a:lstStyle/>
          <a:p>
            <a:pPr algn="l" indent="0" marL="0">
              <a:buNone/>
            </a:pPr>
            <a:r>
              <a:rPr lang="en-US" sz="1600" b="1" dirty="0">
                <a:solidFill>
                  <a:schemeClr val="tx1"/>
                </a:solidFill>
              </a:rPr>
              <a:t>Sum</a:t>
            </a:r>
            <a:endParaRPr lang="en-US" sz="1600" dirty="0"/>
          </a:p>
        </p:txBody>
      </p:sp>
      <p:sp>
        <p:nvSpPr>
          <p:cNvPr id="29" name="Wire"/>
          <p:cNvSpPr/>
          <p:nvPr/>
        </p:nvSpPr>
        <p:spPr>
          <a:xfrm>
            <a:off x="5212080" y="2743200"/>
            <a:ext cx="914400" cy="0"/>
          </a:xfrm>
          <a:prstGeom prst="line">
            <a:avLst/>
          </a:prstGeom>
          <a:noFill/>
          <a:ln w="28575">
            <a:solidFill>
              <a:schemeClr val="accent2"/>
            </a:solidFill>
            <a:prstDash val="solid"/>
          </a:ln>
        </p:spPr>
      </p:sp>
      <p:sp>
        <p:nvSpPr>
          <p:cNvPr id="30" name="Wire"/>
          <p:cNvSpPr/>
          <p:nvPr/>
        </p:nvSpPr>
        <p:spPr>
          <a:xfrm>
            <a:off x="3108960" y="3977640"/>
            <a:ext cx="2560320" cy="0"/>
          </a:xfrm>
          <a:prstGeom prst="line">
            <a:avLst/>
          </a:prstGeom>
          <a:noFill/>
          <a:ln w="28575">
            <a:solidFill>
              <a:schemeClr val="tx1"/>
            </a:solidFill>
            <a:prstDash val="solid"/>
          </a:ln>
        </p:spPr>
      </p:sp>
      <p:sp>
        <p:nvSpPr>
          <p:cNvPr id="31" name="Wire"/>
          <p:cNvSpPr/>
          <p:nvPr/>
        </p:nvSpPr>
        <p:spPr>
          <a:xfrm>
            <a:off x="5669280" y="3108960"/>
            <a:ext cx="0" cy="868680"/>
          </a:xfrm>
          <a:prstGeom prst="line">
            <a:avLst/>
          </a:prstGeom>
          <a:noFill/>
          <a:ln w="28575">
            <a:solidFill>
              <a:schemeClr val="tx1"/>
            </a:solidFill>
            <a:prstDash val="solid"/>
          </a:ln>
        </p:spPr>
      </p:sp>
      <p:sp>
        <p:nvSpPr>
          <p:cNvPr id="32" name="Wire"/>
          <p:cNvSpPr/>
          <p:nvPr/>
        </p:nvSpPr>
        <p:spPr>
          <a:xfrm>
            <a:off x="5669280" y="3108960"/>
            <a:ext cx="457200" cy="0"/>
          </a:xfrm>
          <a:prstGeom prst="line">
            <a:avLst/>
          </a:prstGeom>
          <a:noFill/>
          <a:ln w="28575">
            <a:solidFill>
              <a:schemeClr val="tx1"/>
            </a:solidFill>
            <a:prstDash val="solid"/>
          </a:ln>
        </p:spPr>
      </p:sp>
      <p:sp>
        <p:nvSpPr>
          <p:cNvPr id="33" name="Wire"/>
          <p:cNvSpPr/>
          <p:nvPr/>
        </p:nvSpPr>
        <p:spPr>
          <a:xfrm>
            <a:off x="7132320" y="2926080"/>
            <a:ext cx="640080" cy="0"/>
          </a:xfrm>
          <a:prstGeom prst="line">
            <a:avLst/>
          </a:prstGeom>
          <a:noFill/>
          <a:ln w="28575">
            <a:solidFill>
              <a:schemeClr val="accent2"/>
            </a:solidFill>
            <a:prstDash val="solid"/>
            <a:tailEnd type="triangle"/>
          </a:ln>
        </p:spPr>
      </p:sp>
      <p:sp>
        <p:nvSpPr>
          <p:cNvPr id="34" name="Label"/>
          <p:cNvSpPr txBox="1"/>
          <p:nvPr/>
        </p:nvSpPr>
        <p:spPr>
          <a:xfrm>
            <a:off x="7863840" y="2788920"/>
            <a:ext cx="731520" cy="274320"/>
          </a:xfrm>
          <a:prstGeom prst="rect">
            <a:avLst/>
          </a:prstGeom>
          <a:noFill/>
          <a:ln/>
        </p:spPr>
        <p:txBody>
          <a:bodyPr wrap="square" lIns="0" tIns="0" rIns="0" bIns="0" rtlCol="0" anchor="ctr"/>
          <a:lstStyle/>
          <a:p>
            <a:pPr algn="l" indent="0" marL="0">
              <a:buNone/>
            </a:pPr>
            <a:r>
              <a:rPr lang="en-US" sz="1600" b="1" dirty="0">
                <a:solidFill>
                  <a:schemeClr val="tx1"/>
                </a:solidFill>
              </a:rPr>
              <a:t>Cout</a:t>
            </a:r>
            <a:endParaRPr lang="en-US" sz="1600" dirty="0"/>
          </a:p>
        </p:txBody>
      </p:sp>
      <p:sp>
        <p:nvSpPr>
          <p:cNvPr id="35" name="Legend card"/>
          <p:cNvSpPr/>
          <p:nvPr/>
        </p:nvSpPr>
        <p:spPr>
          <a:xfrm>
            <a:off x="6035040" y="3703320"/>
            <a:ext cx="2651760" cy="914400"/>
          </a:xfrm>
          <a:prstGeom prst="roundRect">
            <a:avLst>
              <a:gd name="adj" fmla="val 12000"/>
            </a:avLst>
          </a:prstGeom>
          <a:solidFill>
            <a:schemeClr val="bg2"/>
          </a:solidFill>
          <a:ln w="12700">
            <a:solidFill>
              <a:schemeClr val="bg2"/>
            </a:solidFill>
            <a:prstDash val="solid"/>
          </a:ln>
        </p:spPr>
      </p:sp>
      <p:sp>
        <p:nvSpPr>
          <p:cNvPr id="36" name="Legend text"/>
          <p:cNvSpPr txBox="1"/>
          <p:nvPr/>
        </p:nvSpPr>
        <p:spPr>
          <a:xfrm>
            <a:off x="6217920" y="3749040"/>
            <a:ext cx="2377440" cy="822960"/>
          </a:xfrm>
          <a:prstGeom prst="rect">
            <a:avLst/>
          </a:prstGeom>
          <a:noFill/>
          <a:ln/>
        </p:spPr>
        <p:txBody>
          <a:bodyPr wrap="square" lIns="0" tIns="0" rIns="0" bIns="0" rtlCol="0" anchor="ctr"/>
          <a:lstStyle/>
          <a:p>
            <a:pPr indent="0" marL="0">
              <a:buNone/>
            </a:pPr>
            <a:r>
              <a:rPr lang="en-US" sz="1300" dirty="0">
                <a:solidFill>
                  <a:schemeClr val="tx1"/>
                </a:solidFill>
              </a:rPr>
              <a:t>P = A XOR B  (propagate)</a:t>
            </a:r>
            <a:endParaRPr lang="en-US" sz="1300" dirty="0"/>
          </a:p>
          <a:p>
            <a:pPr indent="0" marL="0">
              <a:buNone/>
            </a:pPr>
            <a:r>
              <a:rPr lang="en-US" sz="1300" dirty="0">
                <a:solidFill>
                  <a:schemeClr val="tx1"/>
                </a:solidFill>
              </a:rPr>
              <a:t>G = A · B  (generate)</a:t>
            </a:r>
            <a:endParaRPr lang="en-US" sz="1300" dirty="0"/>
          </a:p>
          <a:p>
            <a:pPr indent="0" marL="0">
              <a:buNone/>
            </a:pPr>
            <a:r>
              <a:rPr lang="en-US" sz="1300" b="1" dirty="0">
                <a:solidFill>
                  <a:schemeClr val="tx1"/>
                </a:solidFill>
              </a:rPr>
              <a:t>2 XOR + 2 AND + 1 OR</a:t>
            </a:r>
            <a:endParaRPr lang="en-US" sz="13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000" b="1" dirty="0">
                <a:solidFill>
                  <a:schemeClr val="tx1"/>
                </a:solidFill>
              </a:rPr>
              <a:t>4-bit ripple carry adder: the circuit</a:t>
            </a:r>
            <a:endParaRPr lang="en-US" sz="3000" dirty="0"/>
          </a:p>
        </p:txBody>
      </p:sp>
      <p:pic>
        <p:nvPicPr>
          <p:cNvPr id="3" name="Logisim circuit schematic" descr="Schematic of a 4-bit ripple carry adder built from four full adders, each with two XOR, two AND and one OR gate; the carry output of each stage feeds the next stage">    </p:cNvPr>
          <p:cNvPicPr>
            <a:picLocks noChangeAspect="1"/>
          </p:cNvPicPr>
          <p:nvPr/>
        </p:nvPicPr>
        <p:blipFill>
          <a:blip r:embed="rId1"/>
          <a:stretch>
            <a:fillRect/>
          </a:stretch>
        </p:blipFill>
        <p:spPr>
          <a:xfrm>
            <a:off x="457200" y="1143000"/>
            <a:ext cx="8229600" cy="2068622"/>
          </a:xfrm>
          <a:prstGeom prst="rect">
            <a:avLst/>
          </a:prstGeom>
        </p:spPr>
      </p:pic>
      <p:sp>
        <p:nvSpPr>
          <p:cNvPr id="4" name="Note card 1"/>
          <p:cNvSpPr/>
          <p:nvPr/>
        </p:nvSpPr>
        <p:spPr>
          <a:xfrm>
            <a:off x="457200" y="3520440"/>
            <a:ext cx="2560320" cy="1143000"/>
          </a:xfrm>
          <a:prstGeom prst="roundRect">
            <a:avLst>
              <a:gd name="adj" fmla="val 9600"/>
            </a:avLst>
          </a:prstGeom>
          <a:solidFill>
            <a:schemeClr val="bg2"/>
          </a:solidFill>
          <a:ln w="12700">
            <a:solidFill>
              <a:schemeClr val="bg2"/>
            </a:solidFill>
            <a:prstDash val="solid"/>
          </a:ln>
        </p:spPr>
      </p:sp>
      <p:sp>
        <p:nvSpPr>
          <p:cNvPr id="5" name="Note text 1"/>
          <p:cNvSpPr txBox="1"/>
          <p:nvPr/>
        </p:nvSpPr>
        <p:spPr>
          <a:xfrm>
            <a:off x="594360" y="3566160"/>
            <a:ext cx="2286000" cy="1051560"/>
          </a:xfrm>
          <a:prstGeom prst="rect">
            <a:avLst/>
          </a:prstGeom>
          <a:noFill/>
          <a:ln/>
        </p:spPr>
        <p:txBody>
          <a:bodyPr wrap="square" lIns="0" tIns="0" rIns="0" bIns="0" rtlCol="0" anchor="ctr"/>
          <a:lstStyle/>
          <a:p>
            <a:pPr indent="0" marL="0">
              <a:buNone/>
            </a:pPr>
            <a:r>
              <a:rPr lang="en-US" sz="1400" b="1" dirty="0">
                <a:solidFill>
                  <a:schemeClr val="tx1"/>
                </a:solidFill>
              </a:rPr>
              <a:t>One full adder per bit</a:t>
            </a:r>
            <a:endParaRPr lang="en-US" sz="1400" dirty="0"/>
          </a:p>
          <a:p>
            <a:pPr indent="0" marL="0">
              <a:buNone/>
            </a:pPr>
            <a:r>
              <a:rPr lang="en-US" sz="1200" dirty="0">
                <a:solidFill>
                  <a:schemeClr val="tx1"/>
                </a:solidFill>
              </a:rPr>
              <a:t>Each dashed box is FA0 to FA3: 2 XOR, 2 AND and 1 OR gate.</a:t>
            </a:r>
            <a:endParaRPr lang="en-US" sz="1400" dirty="0"/>
          </a:p>
        </p:txBody>
      </p:sp>
      <p:sp>
        <p:nvSpPr>
          <p:cNvPr id="6" name="Note card 2"/>
          <p:cNvSpPr/>
          <p:nvPr/>
        </p:nvSpPr>
        <p:spPr>
          <a:xfrm>
            <a:off x="3291840" y="3520440"/>
            <a:ext cx="2560320" cy="1143000"/>
          </a:xfrm>
          <a:prstGeom prst="roundRect">
            <a:avLst>
              <a:gd name="adj" fmla="val 9600"/>
            </a:avLst>
          </a:prstGeom>
          <a:solidFill>
            <a:schemeClr val="bg2"/>
          </a:solidFill>
          <a:ln w="12700">
            <a:solidFill>
              <a:schemeClr val="bg2"/>
            </a:solidFill>
            <a:prstDash val="solid"/>
          </a:ln>
        </p:spPr>
      </p:sp>
      <p:sp>
        <p:nvSpPr>
          <p:cNvPr id="7" name="Note text 2"/>
          <p:cNvSpPr txBox="1"/>
          <p:nvPr/>
        </p:nvSpPr>
        <p:spPr>
          <a:xfrm>
            <a:off x="3429000" y="3566160"/>
            <a:ext cx="2286000" cy="1051560"/>
          </a:xfrm>
          <a:prstGeom prst="rect">
            <a:avLst/>
          </a:prstGeom>
          <a:noFill/>
          <a:ln/>
        </p:spPr>
        <p:txBody>
          <a:bodyPr wrap="square" lIns="0" tIns="0" rIns="0" bIns="0" rtlCol="0" anchor="ctr"/>
          <a:lstStyle/>
          <a:p>
            <a:pPr indent="0" marL="0">
              <a:buNone/>
            </a:pPr>
            <a:r>
              <a:rPr lang="en-US" sz="1400" b="1" dirty="0">
                <a:solidFill>
                  <a:schemeClr val="tx1"/>
                </a:solidFill>
              </a:rPr>
              <a:t>Carry ripples left to right</a:t>
            </a:r>
            <a:endParaRPr lang="en-US" sz="1400" dirty="0"/>
          </a:p>
          <a:p>
            <a:pPr indent="0" marL="0">
              <a:buNone/>
            </a:pPr>
            <a:r>
              <a:rPr lang="en-US" sz="1200" dirty="0">
                <a:solidFill>
                  <a:schemeClr val="tx1"/>
                </a:solidFill>
              </a:rPr>
              <a:t>The amber wire carries C1, C2 and C3 into the next stage.</a:t>
            </a:r>
            <a:endParaRPr lang="en-US" sz="1400" dirty="0"/>
          </a:p>
        </p:txBody>
      </p:sp>
      <p:sp>
        <p:nvSpPr>
          <p:cNvPr id="8" name="Note card 3"/>
          <p:cNvSpPr/>
          <p:nvPr/>
        </p:nvSpPr>
        <p:spPr>
          <a:xfrm>
            <a:off x="6126480" y="3520440"/>
            <a:ext cx="2560320" cy="1143000"/>
          </a:xfrm>
          <a:prstGeom prst="roundRect">
            <a:avLst>
              <a:gd name="adj" fmla="val 9600"/>
            </a:avLst>
          </a:prstGeom>
          <a:solidFill>
            <a:schemeClr val="bg2"/>
          </a:solidFill>
          <a:ln w="12700">
            <a:solidFill>
              <a:schemeClr val="bg2"/>
            </a:solidFill>
            <a:prstDash val="solid"/>
          </a:ln>
        </p:spPr>
      </p:sp>
      <p:sp>
        <p:nvSpPr>
          <p:cNvPr id="9" name="Note text 3"/>
          <p:cNvSpPr txBox="1"/>
          <p:nvPr/>
        </p:nvSpPr>
        <p:spPr>
          <a:xfrm>
            <a:off x="6263640" y="3566160"/>
            <a:ext cx="2286000" cy="1051560"/>
          </a:xfrm>
          <a:prstGeom prst="rect">
            <a:avLst/>
          </a:prstGeom>
          <a:noFill/>
          <a:ln/>
        </p:spPr>
        <p:txBody>
          <a:bodyPr wrap="square" lIns="0" tIns="0" rIns="0" bIns="0" rtlCol="0" anchor="ctr"/>
          <a:lstStyle/>
          <a:p>
            <a:pPr indent="0" marL="0">
              <a:buNone/>
            </a:pPr>
            <a:r>
              <a:rPr lang="en-US" sz="1400" b="1" dirty="0">
                <a:solidFill>
                  <a:schemeClr val="tx1"/>
                </a:solidFill>
              </a:rPr>
              <a:t>20 gates in total</a:t>
            </a:r>
            <a:endParaRPr lang="en-US" sz="1400" dirty="0"/>
          </a:p>
          <a:p>
            <a:pPr indent="0" marL="0">
              <a:buNone/>
            </a:pPr>
            <a:r>
              <a:rPr lang="en-US" sz="1200" dirty="0">
                <a:solidFill>
                  <a:schemeClr val="tx1"/>
                </a:solidFill>
              </a:rPr>
              <a:t>Cin is 0 for plain addition; Cout is the 5th result bit.</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000" b="1" dirty="0">
                <a:solidFill>
                  <a:schemeClr val="tx1"/>
                </a:solidFill>
              </a:rPr>
              <a:t>Built and tested in Logisim</a:t>
            </a:r>
            <a:endParaRPr lang="en-US" sz="3000" dirty="0"/>
          </a:p>
        </p:txBody>
      </p:sp>
      <p:pic>
        <p:nvPicPr>
          <p:cNvPr id="3" name="Logisim screenshot" descr="Logisim window showing the 4-bit adder: inputs A and B on the left, four FullAdder subcircuits FA3 to FA0, a Sum output pin showing 0011 and a lit Carry Out pin">    </p:cNvPr>
          <p:cNvPicPr>
            <a:picLocks noChangeAspect="1"/>
          </p:cNvPicPr>
          <p:nvPr/>
        </p:nvPicPr>
        <p:blipFill>
          <a:blip r:embed="rId1"/>
          <a:stretch>
            <a:fillRect/>
          </a:stretch>
        </p:blipFill>
        <p:spPr>
          <a:xfrm>
            <a:off x="457200" y="1234440"/>
            <a:ext cx="5212080" cy="2840142"/>
          </a:xfrm>
          <a:prstGeom prst="rect">
            <a:avLst/>
          </a:prstGeom>
        </p:spPr>
      </p:pic>
      <p:sp>
        <p:nvSpPr>
          <p:cNvPr id="4" name="Label"/>
          <p:cNvSpPr txBox="1"/>
          <p:nvPr/>
        </p:nvSpPr>
        <p:spPr>
          <a:xfrm>
            <a:off x="457200" y="4184310"/>
            <a:ext cx="5212080" cy="457200"/>
          </a:xfrm>
          <a:prstGeom prst="rect">
            <a:avLst/>
          </a:prstGeom>
          <a:noFill/>
          <a:ln/>
        </p:spPr>
        <p:txBody>
          <a:bodyPr wrap="square" lIns="0" tIns="0" rIns="0" bIns="0" rtlCol="0" anchor="t"/>
          <a:lstStyle/>
          <a:p>
            <a:pPr algn="l" indent="0" marL="0">
              <a:buNone/>
            </a:pPr>
            <a:r>
              <a:rPr lang="en-US" sz="1400" dirty="0">
                <a:solidFill>
                  <a:schemeClr val="tx1"/>
                </a:solidFill>
              </a:rPr>
              <a:t>Sample run: A = 1101 and B = 0110 give Sum = 0011 and Carry Out = 1 (13 + 6 = 19).</a:t>
            </a:r>
            <a:endParaRPr lang="en-US" sz="1400" dirty="0"/>
          </a:p>
        </p:txBody>
      </p:sp>
      <p:sp>
        <p:nvSpPr>
          <p:cNvPr id="5" name="Note card 1"/>
          <p:cNvSpPr/>
          <p:nvPr/>
        </p:nvSpPr>
        <p:spPr>
          <a:xfrm>
            <a:off x="5943600" y="1234440"/>
            <a:ext cx="2743200" cy="960120"/>
          </a:xfrm>
          <a:prstGeom prst="roundRect">
            <a:avLst>
              <a:gd name="adj" fmla="val 11429"/>
            </a:avLst>
          </a:prstGeom>
          <a:solidFill>
            <a:schemeClr val="bg2"/>
          </a:solidFill>
          <a:ln w="12700">
            <a:solidFill>
              <a:schemeClr val="bg2"/>
            </a:solidFill>
            <a:prstDash val="solid"/>
          </a:ln>
        </p:spPr>
      </p:sp>
      <p:sp>
        <p:nvSpPr>
          <p:cNvPr id="6" name="Note text 1"/>
          <p:cNvSpPr txBox="1"/>
          <p:nvPr/>
        </p:nvSpPr>
        <p:spPr>
          <a:xfrm>
            <a:off x="6080760" y="1261872"/>
            <a:ext cx="2468880" cy="905256"/>
          </a:xfrm>
          <a:prstGeom prst="rect">
            <a:avLst/>
          </a:prstGeom>
          <a:noFill/>
          <a:ln/>
        </p:spPr>
        <p:txBody>
          <a:bodyPr wrap="square" lIns="0" tIns="0" rIns="0" bIns="0" rtlCol="0" anchor="ctr"/>
          <a:lstStyle/>
          <a:p>
            <a:pPr indent="0" marL="0">
              <a:buNone/>
            </a:pPr>
            <a:r>
              <a:rPr lang="en-US" sz="1400" b="1" dirty="0">
                <a:solidFill>
                  <a:schemeClr val="tx1"/>
                </a:solidFill>
              </a:rPr>
              <a:t>FullAdder subcircuit</a:t>
            </a:r>
            <a:endParaRPr lang="en-US" sz="1400" dirty="0"/>
          </a:p>
          <a:p>
            <a:pPr indent="0" marL="0">
              <a:buNone/>
            </a:pPr>
            <a:r>
              <a:rPr lang="en-US" sz="1200" dirty="0">
                <a:solidFill>
                  <a:schemeClr val="tx1"/>
                </a:solidFill>
              </a:rPr>
              <a:t>Built once, then used four times as FA0 to FA3.</a:t>
            </a:r>
            <a:endParaRPr lang="en-US" sz="1400" dirty="0"/>
          </a:p>
        </p:txBody>
      </p:sp>
      <p:sp>
        <p:nvSpPr>
          <p:cNvPr id="7" name="Note card 2"/>
          <p:cNvSpPr/>
          <p:nvPr/>
        </p:nvSpPr>
        <p:spPr>
          <a:xfrm>
            <a:off x="5943600" y="2331720"/>
            <a:ext cx="2743200" cy="960120"/>
          </a:xfrm>
          <a:prstGeom prst="roundRect">
            <a:avLst>
              <a:gd name="adj" fmla="val 11429"/>
            </a:avLst>
          </a:prstGeom>
          <a:solidFill>
            <a:schemeClr val="bg2"/>
          </a:solidFill>
          <a:ln w="12700">
            <a:solidFill>
              <a:schemeClr val="bg2"/>
            </a:solidFill>
            <a:prstDash val="solid"/>
          </a:ln>
        </p:spPr>
      </p:sp>
      <p:sp>
        <p:nvSpPr>
          <p:cNvPr id="8" name="Note text 2"/>
          <p:cNvSpPr txBox="1"/>
          <p:nvPr/>
        </p:nvSpPr>
        <p:spPr>
          <a:xfrm>
            <a:off x="6080760" y="2359152"/>
            <a:ext cx="2468880" cy="905256"/>
          </a:xfrm>
          <a:prstGeom prst="rect">
            <a:avLst/>
          </a:prstGeom>
          <a:noFill/>
          <a:ln/>
        </p:spPr>
        <p:txBody>
          <a:bodyPr wrap="square" lIns="0" tIns="0" rIns="0" bIns="0" rtlCol="0" anchor="ctr"/>
          <a:lstStyle/>
          <a:p>
            <a:pPr indent="0" marL="0">
              <a:buNone/>
            </a:pPr>
            <a:r>
              <a:rPr lang="en-US" sz="1400" b="1" dirty="0">
                <a:solidFill>
                  <a:schemeClr val="tx1"/>
                </a:solidFill>
              </a:rPr>
              <a:t>Splitters and constant 0</a:t>
            </a:r>
            <a:endParaRPr lang="en-US" sz="1400" dirty="0"/>
          </a:p>
          <a:p>
            <a:pPr indent="0" marL="0">
              <a:buNone/>
            </a:pPr>
            <a:r>
              <a:rPr lang="en-US" sz="1200" dirty="0">
                <a:solidFill>
                  <a:schemeClr val="tx1"/>
                </a:solidFill>
              </a:rPr>
              <a:t>Split A[3..0] and B[3..0] into bits; Cin of FA0 is tied to 0.</a:t>
            </a:r>
            <a:endParaRPr lang="en-US" sz="1400" dirty="0"/>
          </a:p>
        </p:txBody>
      </p:sp>
      <p:sp>
        <p:nvSpPr>
          <p:cNvPr id="9" name="Note card 3"/>
          <p:cNvSpPr/>
          <p:nvPr/>
        </p:nvSpPr>
        <p:spPr>
          <a:xfrm>
            <a:off x="5943600" y="3429000"/>
            <a:ext cx="2743200" cy="960120"/>
          </a:xfrm>
          <a:prstGeom prst="roundRect">
            <a:avLst>
              <a:gd name="adj" fmla="val 11429"/>
            </a:avLst>
          </a:prstGeom>
          <a:solidFill>
            <a:schemeClr val="bg2"/>
          </a:solidFill>
          <a:ln w="12700">
            <a:solidFill>
              <a:schemeClr val="bg2"/>
            </a:solidFill>
            <a:prstDash val="solid"/>
          </a:ln>
        </p:spPr>
      </p:sp>
      <p:sp>
        <p:nvSpPr>
          <p:cNvPr id="10" name="Note text 3"/>
          <p:cNvSpPr txBox="1"/>
          <p:nvPr/>
        </p:nvSpPr>
        <p:spPr>
          <a:xfrm>
            <a:off x="6080760" y="3456432"/>
            <a:ext cx="2468880" cy="905256"/>
          </a:xfrm>
          <a:prstGeom prst="rect">
            <a:avLst/>
          </a:prstGeom>
          <a:noFill/>
          <a:ln/>
        </p:spPr>
        <p:txBody>
          <a:bodyPr wrap="square" lIns="0" tIns="0" rIns="0" bIns="0" rtlCol="0" anchor="ctr"/>
          <a:lstStyle/>
          <a:p>
            <a:pPr indent="0" marL="0">
              <a:buNone/>
            </a:pPr>
            <a:r>
              <a:rPr lang="en-US" sz="1400" b="1" dirty="0">
                <a:solidFill>
                  <a:schemeClr val="tx1"/>
                </a:solidFill>
              </a:rPr>
              <a:t>Outputs</a:t>
            </a:r>
            <a:endParaRPr lang="en-US" sz="1400" dirty="0"/>
          </a:p>
          <a:p>
            <a:pPr indent="0" marL="0">
              <a:buNone/>
            </a:pPr>
            <a:r>
              <a:rPr lang="en-US" sz="1200" dirty="0">
                <a:solidFill>
                  <a:schemeClr val="tx1"/>
                </a:solidFill>
              </a:rPr>
              <a:t>Sum[3..0] shows the result and Carry Out (C4) lights for a carry.</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000" b="1" dirty="0">
                <a:solidFill>
                  <a:schemeClr val="tx1"/>
                </a:solidFill>
              </a:rPr>
              <a:t>Working example: 1011 + 0110</a:t>
            </a:r>
            <a:endParaRPr lang="en-US" sz="3000" dirty="0"/>
          </a:p>
        </p:txBody>
      </p:sp>
      <p:graphicFrame>
        <p:nvGraphicFramePr>
          <p:cNvPr id="8" name="Example table"/>
          <p:cNvGraphicFramePr>
            <a:graphicFrameLocks noGrp="1"/>
          </p:cNvGraphicFramePr>
          <p:nvPr>
            <p:extLst>
              <p:ext uri="{D42A27DB-BD31-4B8C-83A1-F6EECF244321}">
                <p14:modId xmlns:p14="http://schemas.microsoft.com/office/powerpoint/2010/main" val="1579011935"/>
              </p:ext>
            </p:extLst>
          </p:nvPr>
        </p:nvGraphicFramePr>
        <p:xfrm>
          <a:off x="457200" y="1280160"/>
          <a:ext cx="4754880" cy="914400"/>
        </p:xfrm>
        <a:graphic>
          <a:graphicData uri="http://schemas.openxmlformats.org/drawingml/2006/table">
            <a:tbl>
              <a:tblPr/>
              <a:tblGrid>
                <a:gridCol w="914400"/>
                <a:gridCol w="731520"/>
                <a:gridCol w="731520"/>
                <a:gridCol w="822960"/>
                <a:gridCol w="731520"/>
                <a:gridCol w="822960"/>
              </a:tblGrid>
              <a:tr h="457200">
                <a:tc>
                  <a:txBody>
                    <a:bodyPr/>
                    <a:lstStyle/>
                    <a:p>
                      <a:pPr algn="ctr" indent="0" marL="0">
                        <a:buNone/>
                      </a:pPr>
                      <a:r>
                        <a:rPr lang="en-US" sz="1600" b="1" dirty="0">
                          <a:solidFill>
                            <a:schemeClr val="bg1"/>
                          </a:solidFill>
                        </a:rPr>
                        <a:t>Stage</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Ai</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Bi</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Cin</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Si</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Cout</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tx1"/>
                    </a:solidFill>
                  </a:tcPr>
                </a:tc>
              </a:tr>
              <a:tr h="457200">
                <a:tc>
                  <a:txBody>
                    <a:bodyPr/>
                    <a:lstStyle/>
                    <a:p>
                      <a:pPr algn="ctr" indent="0" marL="0">
                        <a:buNone/>
                      </a:pPr>
                      <a:r>
                        <a:rPr lang="en-US" sz="1600" b="1" dirty="0">
                          <a:solidFill>
                            <a:schemeClr val="tx1"/>
                          </a:solidFill>
                        </a:rPr>
                        <a:t>FA0</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0</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0</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0</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r>
              <a:tr h="457200">
                <a:tc>
                  <a:txBody>
                    <a:bodyPr/>
                    <a:lstStyle/>
                    <a:p>
                      <a:pPr algn="ctr" indent="0" marL="0">
                        <a:buNone/>
                      </a:pPr>
                      <a:r>
                        <a:rPr lang="en-US" sz="1600" b="1" dirty="0">
                          <a:solidFill>
                            <a:schemeClr val="tx1"/>
                          </a:solidFill>
                        </a:rPr>
                        <a:t>FA1</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0</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0</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tx1"/>
                          </a:solidFill>
                        </a:rPr>
                        <a:t>1</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accent2"/>
                    </a:solidFill>
                  </a:tcPr>
                </a:tc>
              </a:tr>
              <a:tr h="457200">
                <a:tc>
                  <a:txBody>
                    <a:bodyPr/>
                    <a:lstStyle/>
                    <a:p>
                      <a:pPr algn="ctr" indent="0" marL="0">
                        <a:buNone/>
                      </a:pPr>
                      <a:r>
                        <a:rPr lang="en-US" sz="1600" b="1" dirty="0">
                          <a:solidFill>
                            <a:schemeClr val="tx1"/>
                          </a:solidFill>
                        </a:rPr>
                        <a:t>FA2</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0</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tx1"/>
                          </a:solidFill>
                        </a:rPr>
                        <a:t>1</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accent2"/>
                    </a:solidFill>
                  </a:tcPr>
                </a:tc>
                <a:tc>
                  <a:txBody>
                    <a:bodyPr/>
                    <a:lstStyle/>
                    <a:p>
                      <a:pPr algn="ctr" indent="0" marL="0">
                        <a:buNone/>
                      </a:pPr>
                      <a:r>
                        <a:rPr lang="en-US" sz="1600" dirty="0">
                          <a:solidFill>
                            <a:schemeClr val="tx1"/>
                          </a:solidFill>
                        </a:rPr>
                        <a:t>0</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tx1"/>
                          </a:solidFill>
                        </a:rPr>
                        <a:t>1</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accent2"/>
                    </a:solidFill>
                  </a:tcPr>
                </a:tc>
              </a:tr>
              <a:tr h="457200">
                <a:tc>
                  <a:txBody>
                    <a:bodyPr/>
                    <a:lstStyle/>
                    <a:p>
                      <a:pPr algn="ctr" indent="0" marL="0">
                        <a:buNone/>
                      </a:pPr>
                      <a:r>
                        <a:rPr lang="en-US" sz="1600" b="1" dirty="0">
                          <a:solidFill>
                            <a:schemeClr val="tx1"/>
                          </a:solidFill>
                        </a:rPr>
                        <a:t>FA3</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0</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tx1"/>
                          </a:solidFill>
                        </a:rPr>
                        <a:t>1</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accent2"/>
                    </a:solidFill>
                  </a:tcPr>
                </a:tc>
                <a:tc>
                  <a:txBody>
                    <a:bodyPr/>
                    <a:lstStyle/>
                    <a:p>
                      <a:pPr algn="ctr" indent="0" marL="0">
                        <a:buNone/>
                      </a:pPr>
                      <a:r>
                        <a:rPr lang="en-US" sz="1600" dirty="0">
                          <a:solidFill>
                            <a:schemeClr val="tx1"/>
                          </a:solidFill>
                        </a:rPr>
                        <a:t>0</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tx1"/>
                          </a:solidFill>
                        </a:rPr>
                        <a:t>1</a:t>
                      </a:r>
                      <a:endParaRPr lang="en-US" sz="1600" dirty="0"/>
                    </a:p>
                  </a:txBody>
                  <a:tcPr marL="91440" marR="91440" marT="45720" marB="45720" anchor="ctr">
                    <a:lnL w="9525" cap="flat" cmpd="sng" algn="ctr">
                      <a:solidFill>
                        <a:srgbClr val="BFD3CE"/>
                      </a:solidFill>
                      <a:prstDash val="solid"/>
                      <a:round/>
                      <a:headEnd type="none" w="med" len="med"/>
                      <a:tailEnd type="none" w="med" len="med"/>
                    </a:lnL>
                    <a:lnR w="9525" cap="flat" cmpd="sng" algn="ctr">
                      <a:solidFill>
                        <a:srgbClr val="BFD3CE"/>
                      </a:solidFill>
                      <a:prstDash val="solid"/>
                      <a:round/>
                      <a:headEnd type="none" w="med" len="med"/>
                      <a:tailEnd type="none" w="med" len="med"/>
                    </a:lnR>
                    <a:lnT w="9525" cap="flat" cmpd="sng" algn="ctr">
                      <a:solidFill>
                        <a:srgbClr val="BFD3CE"/>
                      </a:solidFill>
                      <a:prstDash val="solid"/>
                      <a:round/>
                      <a:headEnd type="none" w="med" len="med"/>
                      <a:tailEnd type="none" w="med" len="med"/>
                    </a:lnT>
                    <a:lnB w="9525" cap="flat" cmpd="sng" algn="ctr">
                      <a:solidFill>
                        <a:srgbClr val="BFD3CE"/>
                      </a:solidFill>
                      <a:prstDash val="solid"/>
                      <a:round/>
                      <a:headEnd type="none" w="med" len="med"/>
                      <a:tailEnd type="none" w="med" len="med"/>
                    </a:lnB>
                    <a:solidFill>
                      <a:schemeClr val="accent2"/>
                    </a:solidFill>
                  </a:tcPr>
                </a:tc>
              </a:tr>
            </a:tbl>
          </a:graphicData>
        </a:graphic>
      </p:graphicFrame>
      <p:sp>
        <p:nvSpPr>
          <p:cNvPr id="4" name="Label"/>
          <p:cNvSpPr txBox="1"/>
          <p:nvPr/>
        </p:nvSpPr>
        <p:spPr>
          <a:xfrm>
            <a:off x="457200" y="3749040"/>
            <a:ext cx="4754880" cy="822960"/>
          </a:xfrm>
          <a:prstGeom prst="rect">
            <a:avLst/>
          </a:prstGeom>
          <a:noFill/>
          <a:ln/>
        </p:spPr>
        <p:txBody>
          <a:bodyPr wrap="square" lIns="0" tIns="0" rIns="0" bIns="0" rtlCol="0" anchor="t"/>
          <a:lstStyle/>
          <a:p>
            <a:pPr algn="l" indent="0" marL="0">
              <a:buNone/>
            </a:pPr>
            <a:r>
              <a:rPr lang="en-US" sz="1400" dirty="0">
                <a:solidFill>
                  <a:schemeClr val="tx1"/>
                </a:solidFill>
              </a:rPr>
              <a:t>Stages are evaluated in order: FA0 first, FA3 last. Amber cells show the carry moving from stage to stage.</a:t>
            </a:r>
            <a:endParaRPr lang="en-US" sz="1400" dirty="0"/>
          </a:p>
        </p:txBody>
      </p:sp>
      <p:sp>
        <p:nvSpPr>
          <p:cNvPr id="5" name="Result card"/>
          <p:cNvSpPr/>
          <p:nvPr/>
        </p:nvSpPr>
        <p:spPr>
          <a:xfrm>
            <a:off x="5577840" y="1280160"/>
            <a:ext cx="3108960" cy="3200400"/>
          </a:xfrm>
          <a:prstGeom prst="roundRect">
            <a:avLst>
              <a:gd name="adj" fmla="val 3529"/>
            </a:avLst>
          </a:prstGeom>
          <a:solidFill>
            <a:schemeClr val="tx1"/>
          </a:solidFill>
          <a:ln w="12700">
            <a:solidFill>
              <a:schemeClr val="tx1"/>
            </a:solidFill>
            <a:prstDash val="solid"/>
          </a:ln>
        </p:spPr>
      </p:sp>
      <p:sp>
        <p:nvSpPr>
          <p:cNvPr id="6" name="Result text"/>
          <p:cNvSpPr txBox="1"/>
          <p:nvPr/>
        </p:nvSpPr>
        <p:spPr>
          <a:xfrm>
            <a:off x="5760720" y="1417320"/>
            <a:ext cx="2743200" cy="2926080"/>
          </a:xfrm>
          <a:prstGeom prst="rect">
            <a:avLst/>
          </a:prstGeom>
          <a:noFill/>
          <a:ln/>
        </p:spPr>
        <p:txBody>
          <a:bodyPr wrap="square" lIns="0" tIns="0" rIns="0" bIns="0" rtlCol="0" anchor="ctr"/>
          <a:lstStyle/>
          <a:p>
            <a:pPr indent="0" marL="0">
              <a:buNone/>
            </a:pPr>
            <a:r>
              <a:rPr lang="en-US" sz="2400" dirty="0">
                <a:solidFill>
                  <a:schemeClr val="bg1"/>
                </a:solidFill>
                <a:latin typeface="Courier New" pitchFamily="34" charset="0"/>
                <a:ea typeface="Courier New" pitchFamily="34" charset="-122"/>
                <a:cs typeface="Courier New" pitchFamily="34" charset="-120"/>
              </a:rPr>
              <a:t>  1011</a:t>
            </a:r>
            <a:endParaRPr lang="en-US" sz="2400" dirty="0"/>
          </a:p>
          <a:p>
            <a:pPr indent="0" marL="0">
              <a:buNone/>
            </a:pPr>
            <a:r>
              <a:rPr lang="en-US" sz="2400" dirty="0">
                <a:solidFill>
                  <a:schemeClr val="bg1"/>
                </a:solidFill>
                <a:latin typeface="Courier New" pitchFamily="34" charset="0"/>
                <a:ea typeface="Courier New" pitchFamily="34" charset="-122"/>
                <a:cs typeface="Courier New" pitchFamily="34" charset="-120"/>
              </a:rPr>
              <a:t>+ 0110</a:t>
            </a:r>
            <a:endParaRPr lang="en-US" sz="2400" dirty="0"/>
          </a:p>
          <a:p>
            <a:pPr indent="0" marL="0">
              <a:buNone/>
            </a:pPr>
            <a:r>
              <a:rPr lang="en-US" sz="3200" b="1" dirty="0">
                <a:solidFill>
                  <a:schemeClr val="accent2"/>
                </a:solidFill>
                <a:latin typeface="Courier New" pitchFamily="34" charset="0"/>
                <a:ea typeface="Courier New" pitchFamily="34" charset="-122"/>
                <a:cs typeface="Courier New" pitchFamily="34" charset="-120"/>
              </a:rPr>
              <a:t>= 10001</a:t>
            </a:r>
            <a:endParaRPr lang="en-US" sz="2400" dirty="0"/>
          </a:p>
          <a:p>
            <a:pPr indent="0" marL="0">
              <a:buNone/>
            </a:pPr>
            <a:r>
              <a:rPr lang="en-US" sz="1000" dirty="0">
                <a:solidFill>
                  <a:srgbClr val="000000"/>
                </a:solidFill>
              </a:rPr>
              <a:t> </a:t>
            </a:r>
            <a:endParaRPr lang="en-US" sz="2400" dirty="0"/>
          </a:p>
          <a:p>
            <a:pPr indent="0" marL="0">
              <a:buNone/>
            </a:pPr>
            <a:r>
              <a:rPr lang="en-US" sz="1400" dirty="0">
                <a:solidFill>
                  <a:schemeClr val="accent3"/>
                </a:solidFill>
              </a:rPr>
              <a:t>Cout = 1, S3S2S1S0 = 0001</a:t>
            </a:r>
            <a:endParaRPr lang="en-US" sz="2400" dirty="0"/>
          </a:p>
          <a:p>
            <a:pPr indent="0" marL="0">
              <a:buNone/>
            </a:pPr>
            <a:r>
              <a:rPr lang="en-US" sz="1400" dirty="0">
                <a:solidFill>
                  <a:schemeClr val="accent3"/>
                </a:solidFill>
              </a:rPr>
              <a:t>11 + 6 = 17</a:t>
            </a:r>
            <a:endParaRPr lang="en-US" sz="2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000" b="1" dirty="0">
                <a:solidFill>
                  <a:schemeClr val="tx1"/>
                </a:solidFill>
              </a:rPr>
              <a:t>How the carry ripples</a:t>
            </a:r>
            <a:endParaRPr lang="en-US" sz="3000" dirty="0"/>
          </a:p>
        </p:txBody>
      </p:sp>
      <p:sp>
        <p:nvSpPr>
          <p:cNvPr id="3" name="Formula card"/>
          <p:cNvSpPr/>
          <p:nvPr/>
        </p:nvSpPr>
        <p:spPr>
          <a:xfrm>
            <a:off x="457200" y="1234440"/>
            <a:ext cx="8229600" cy="731520"/>
          </a:xfrm>
          <a:prstGeom prst="roundRect">
            <a:avLst>
              <a:gd name="adj" fmla="val 15000"/>
            </a:avLst>
          </a:prstGeom>
          <a:solidFill>
            <a:schemeClr val="bg2"/>
          </a:solidFill>
          <a:ln w="12700">
            <a:solidFill>
              <a:schemeClr val="bg2"/>
            </a:solidFill>
            <a:prstDash val="solid"/>
          </a:ln>
        </p:spPr>
      </p:sp>
      <p:sp>
        <p:nvSpPr>
          <p:cNvPr id="4" name="Label"/>
          <p:cNvSpPr txBox="1"/>
          <p:nvPr/>
        </p:nvSpPr>
        <p:spPr>
          <a:xfrm>
            <a:off x="640080" y="1280160"/>
            <a:ext cx="7863840" cy="640080"/>
          </a:xfrm>
          <a:prstGeom prst="rect">
            <a:avLst/>
          </a:prstGeom>
          <a:noFill/>
          <a:ln/>
        </p:spPr>
        <p:txBody>
          <a:bodyPr wrap="square" lIns="0" tIns="0" rIns="0" bIns="0" rtlCol="0" anchor="ctr"/>
          <a:lstStyle/>
          <a:p>
            <a:pPr algn="ctr" indent="0" marL="0">
              <a:buNone/>
            </a:pPr>
            <a:r>
              <a:rPr lang="en-US" sz="2000" b="1" dirty="0">
                <a:solidFill>
                  <a:schemeClr val="tx1"/>
                </a:solidFill>
              </a:rPr>
              <a:t>P = A XOR B        G = A · B        C(i+1) = G(i) + P(i) · C(i)</a:t>
            </a:r>
            <a:endParaRPr lang="en-US" sz="2000" dirty="0"/>
          </a:p>
        </p:txBody>
      </p:sp>
      <p:sp>
        <p:nvSpPr>
          <p:cNvPr id="5" name="Generate card"/>
          <p:cNvSpPr/>
          <p:nvPr/>
        </p:nvSpPr>
        <p:spPr>
          <a:xfrm>
            <a:off x="457200" y="2194560"/>
            <a:ext cx="2560320" cy="1463040"/>
          </a:xfrm>
          <a:prstGeom prst="roundRect">
            <a:avLst>
              <a:gd name="adj" fmla="val 7500"/>
            </a:avLst>
          </a:prstGeom>
          <a:solidFill>
            <a:schemeClr val="bg2"/>
          </a:solidFill>
          <a:ln w="12700">
            <a:solidFill>
              <a:schemeClr val="bg2"/>
            </a:solidFill>
            <a:prstDash val="solid"/>
          </a:ln>
        </p:spPr>
      </p:sp>
      <p:sp>
        <p:nvSpPr>
          <p:cNvPr id="6" name="Icon circle"/>
          <p:cNvSpPr txBox="1"/>
          <p:nvPr/>
        </p:nvSpPr>
        <p:spPr>
          <a:xfrm>
            <a:off x="640080" y="233172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G</a:t>
            </a:r>
            <a:endParaRPr lang="en-US" sz="1600" dirty="0"/>
          </a:p>
        </p:txBody>
      </p:sp>
      <p:sp>
        <p:nvSpPr>
          <p:cNvPr id="7" name="Generate title"/>
          <p:cNvSpPr txBox="1"/>
          <p:nvPr/>
        </p:nvSpPr>
        <p:spPr>
          <a:xfrm>
            <a:off x="1234440" y="2331720"/>
            <a:ext cx="1645920" cy="457200"/>
          </a:xfrm>
          <a:prstGeom prst="rect">
            <a:avLst/>
          </a:prstGeom>
          <a:noFill/>
          <a:ln/>
        </p:spPr>
        <p:txBody>
          <a:bodyPr wrap="square" lIns="0" tIns="0" rIns="0" bIns="0" rtlCol="0" anchor="ctr"/>
          <a:lstStyle/>
          <a:p>
            <a:pPr indent="0" marL="0">
              <a:buNone/>
            </a:pPr>
            <a:r>
              <a:rPr lang="en-US" sz="1600" b="1" dirty="0">
                <a:solidFill>
                  <a:schemeClr val="tx1"/>
                </a:solidFill>
              </a:rPr>
              <a:t>Generate</a:t>
            </a:r>
            <a:endParaRPr lang="en-US" sz="1600" dirty="0"/>
          </a:p>
        </p:txBody>
      </p:sp>
      <p:sp>
        <p:nvSpPr>
          <p:cNvPr id="8" name="Label"/>
          <p:cNvSpPr txBox="1"/>
          <p:nvPr/>
        </p:nvSpPr>
        <p:spPr>
          <a:xfrm>
            <a:off x="640080" y="2834640"/>
            <a:ext cx="2194560" cy="777240"/>
          </a:xfrm>
          <a:prstGeom prst="rect">
            <a:avLst/>
          </a:prstGeom>
          <a:noFill/>
          <a:ln/>
        </p:spPr>
        <p:txBody>
          <a:bodyPr wrap="square" lIns="0" tIns="0" rIns="0" bIns="0" rtlCol="0" anchor="t"/>
          <a:lstStyle/>
          <a:p>
            <a:pPr algn="l" indent="0" marL="0">
              <a:buNone/>
            </a:pPr>
            <a:r>
              <a:rPr lang="en-US" sz="1400" dirty="0">
                <a:solidFill>
                  <a:schemeClr val="tx1"/>
                </a:solidFill>
              </a:rPr>
              <a:t>A = B = 1. The stage creates a carry by itself, whatever Cin is.</a:t>
            </a:r>
            <a:endParaRPr lang="en-US" sz="1400" dirty="0"/>
          </a:p>
        </p:txBody>
      </p:sp>
      <p:sp>
        <p:nvSpPr>
          <p:cNvPr id="9" name="Propagate card"/>
          <p:cNvSpPr/>
          <p:nvPr/>
        </p:nvSpPr>
        <p:spPr>
          <a:xfrm>
            <a:off x="3291840" y="2194560"/>
            <a:ext cx="2560320" cy="1463040"/>
          </a:xfrm>
          <a:prstGeom prst="roundRect">
            <a:avLst>
              <a:gd name="adj" fmla="val 7500"/>
            </a:avLst>
          </a:prstGeom>
          <a:solidFill>
            <a:schemeClr val="bg2"/>
          </a:solidFill>
          <a:ln w="12700">
            <a:solidFill>
              <a:schemeClr val="bg2"/>
            </a:solidFill>
            <a:prstDash val="solid"/>
          </a:ln>
        </p:spPr>
      </p:sp>
      <p:sp>
        <p:nvSpPr>
          <p:cNvPr id="10" name="Icon circle"/>
          <p:cNvSpPr txBox="1"/>
          <p:nvPr/>
        </p:nvSpPr>
        <p:spPr>
          <a:xfrm>
            <a:off x="3474720" y="233172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1"/>
                </a:solidFill>
              </a:rPr>
              <a:t>P</a:t>
            </a:r>
            <a:endParaRPr lang="en-US" sz="1600" dirty="0"/>
          </a:p>
        </p:txBody>
      </p:sp>
      <p:sp>
        <p:nvSpPr>
          <p:cNvPr id="11" name="Propagate title"/>
          <p:cNvSpPr txBox="1"/>
          <p:nvPr/>
        </p:nvSpPr>
        <p:spPr>
          <a:xfrm>
            <a:off x="4069080" y="2331720"/>
            <a:ext cx="1645920" cy="457200"/>
          </a:xfrm>
          <a:prstGeom prst="rect">
            <a:avLst/>
          </a:prstGeom>
          <a:noFill/>
          <a:ln/>
        </p:spPr>
        <p:txBody>
          <a:bodyPr wrap="square" lIns="0" tIns="0" rIns="0" bIns="0" rtlCol="0" anchor="ctr"/>
          <a:lstStyle/>
          <a:p>
            <a:pPr indent="0" marL="0">
              <a:buNone/>
            </a:pPr>
            <a:r>
              <a:rPr lang="en-US" sz="1600" b="1" dirty="0">
                <a:solidFill>
                  <a:schemeClr val="tx1"/>
                </a:solidFill>
              </a:rPr>
              <a:t>Propagate</a:t>
            </a:r>
            <a:endParaRPr lang="en-US" sz="1600" dirty="0"/>
          </a:p>
        </p:txBody>
      </p:sp>
      <p:sp>
        <p:nvSpPr>
          <p:cNvPr id="12" name="Label"/>
          <p:cNvSpPr txBox="1"/>
          <p:nvPr/>
        </p:nvSpPr>
        <p:spPr>
          <a:xfrm>
            <a:off x="3474720" y="2834640"/>
            <a:ext cx="2194560" cy="777240"/>
          </a:xfrm>
          <a:prstGeom prst="rect">
            <a:avLst/>
          </a:prstGeom>
          <a:noFill/>
          <a:ln/>
        </p:spPr>
        <p:txBody>
          <a:bodyPr wrap="square" lIns="0" tIns="0" rIns="0" bIns="0" rtlCol="0" anchor="t"/>
          <a:lstStyle/>
          <a:p>
            <a:pPr algn="l" indent="0" marL="0">
              <a:buNone/>
            </a:pPr>
            <a:r>
              <a:rPr lang="en-US" sz="1400" dirty="0">
                <a:solidFill>
                  <a:schemeClr val="tx1"/>
                </a:solidFill>
              </a:rPr>
              <a:t>A ≠ B. The stage passes the incoming carry on unchanged.</a:t>
            </a:r>
            <a:endParaRPr lang="en-US" sz="1400" dirty="0"/>
          </a:p>
        </p:txBody>
      </p:sp>
      <p:sp>
        <p:nvSpPr>
          <p:cNvPr id="13" name="Kill card"/>
          <p:cNvSpPr/>
          <p:nvPr/>
        </p:nvSpPr>
        <p:spPr>
          <a:xfrm>
            <a:off x="6126480" y="2194560"/>
            <a:ext cx="2560320" cy="1463040"/>
          </a:xfrm>
          <a:prstGeom prst="roundRect">
            <a:avLst>
              <a:gd name="adj" fmla="val 7500"/>
            </a:avLst>
          </a:prstGeom>
          <a:solidFill>
            <a:schemeClr val="bg2"/>
          </a:solidFill>
          <a:ln w="12700">
            <a:solidFill>
              <a:schemeClr val="bg2"/>
            </a:solidFill>
            <a:prstDash val="solid"/>
          </a:ln>
        </p:spPr>
      </p:sp>
      <p:sp>
        <p:nvSpPr>
          <p:cNvPr id="14" name="Icon circle"/>
          <p:cNvSpPr txBox="1"/>
          <p:nvPr/>
        </p:nvSpPr>
        <p:spPr>
          <a:xfrm>
            <a:off x="6309360" y="2331720"/>
            <a:ext cx="457200" cy="45720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K</a:t>
            </a:r>
            <a:endParaRPr lang="en-US" sz="1600" dirty="0"/>
          </a:p>
        </p:txBody>
      </p:sp>
      <p:sp>
        <p:nvSpPr>
          <p:cNvPr id="15" name="Kill title"/>
          <p:cNvSpPr txBox="1"/>
          <p:nvPr/>
        </p:nvSpPr>
        <p:spPr>
          <a:xfrm>
            <a:off x="6903720" y="2331720"/>
            <a:ext cx="1645920" cy="457200"/>
          </a:xfrm>
          <a:prstGeom prst="rect">
            <a:avLst/>
          </a:prstGeom>
          <a:noFill/>
          <a:ln/>
        </p:spPr>
        <p:txBody>
          <a:bodyPr wrap="square" lIns="0" tIns="0" rIns="0" bIns="0" rtlCol="0" anchor="ctr"/>
          <a:lstStyle/>
          <a:p>
            <a:pPr indent="0" marL="0">
              <a:buNone/>
            </a:pPr>
            <a:r>
              <a:rPr lang="en-US" sz="1600" b="1" dirty="0">
                <a:solidFill>
                  <a:schemeClr val="tx1"/>
                </a:solidFill>
              </a:rPr>
              <a:t>Kill</a:t>
            </a:r>
            <a:endParaRPr lang="en-US" sz="1600" dirty="0"/>
          </a:p>
        </p:txBody>
      </p:sp>
      <p:sp>
        <p:nvSpPr>
          <p:cNvPr id="16" name="Label"/>
          <p:cNvSpPr txBox="1"/>
          <p:nvPr/>
        </p:nvSpPr>
        <p:spPr>
          <a:xfrm>
            <a:off x="6309360" y="2834640"/>
            <a:ext cx="2194560" cy="777240"/>
          </a:xfrm>
          <a:prstGeom prst="rect">
            <a:avLst/>
          </a:prstGeom>
          <a:noFill/>
          <a:ln/>
        </p:spPr>
        <p:txBody>
          <a:bodyPr wrap="square" lIns="0" tIns="0" rIns="0" bIns="0" rtlCol="0" anchor="t"/>
          <a:lstStyle/>
          <a:p>
            <a:pPr algn="l" indent="0" marL="0">
              <a:buNone/>
            </a:pPr>
            <a:r>
              <a:rPr lang="en-US" sz="1400" dirty="0">
                <a:solidFill>
                  <a:schemeClr val="tx1"/>
                </a:solidFill>
              </a:rPr>
              <a:t>A = B = 0. Carry out is 0, whatever came in.</a:t>
            </a:r>
            <a:endParaRPr lang="en-US" sz="1400" dirty="0"/>
          </a:p>
        </p:txBody>
      </p:sp>
      <p:sp>
        <p:nvSpPr>
          <p:cNvPr id="17" name="Worst-case card"/>
          <p:cNvSpPr/>
          <p:nvPr/>
        </p:nvSpPr>
        <p:spPr>
          <a:xfrm>
            <a:off x="457200" y="3840480"/>
            <a:ext cx="8229600" cy="822960"/>
          </a:xfrm>
          <a:prstGeom prst="roundRect">
            <a:avLst>
              <a:gd name="adj" fmla="val 13333"/>
            </a:avLst>
          </a:prstGeom>
          <a:solidFill>
            <a:schemeClr val="tx1"/>
          </a:solidFill>
          <a:ln w="12700">
            <a:solidFill>
              <a:schemeClr val="tx1"/>
            </a:solidFill>
            <a:prstDash val="solid"/>
          </a:ln>
        </p:spPr>
      </p:sp>
      <p:sp>
        <p:nvSpPr>
          <p:cNvPr id="18" name="Worst-case text"/>
          <p:cNvSpPr txBox="1"/>
          <p:nvPr/>
        </p:nvSpPr>
        <p:spPr>
          <a:xfrm>
            <a:off x="640080" y="3886200"/>
            <a:ext cx="7863840" cy="731520"/>
          </a:xfrm>
          <a:prstGeom prst="rect">
            <a:avLst/>
          </a:prstGeom>
          <a:noFill/>
          <a:ln/>
        </p:spPr>
        <p:txBody>
          <a:bodyPr wrap="square" lIns="0" tIns="0" rIns="0" bIns="0" rtlCol="0" anchor="ctr"/>
          <a:lstStyle/>
          <a:p>
            <a:pPr indent="0" marL="0">
              <a:buNone/>
            </a:pPr>
            <a:r>
              <a:rPr lang="en-US" sz="1400" b="1" dirty="0">
                <a:solidFill>
                  <a:schemeClr val="accent2"/>
                </a:solidFill>
              </a:rPr>
              <a:t>Worst case: </a:t>
            </a:r>
            <a:pPr indent="0" marL="0">
              <a:buNone/>
            </a:pPr>
            <a:r>
              <a:rPr lang="en-US" sz="1400" dirty="0">
                <a:solidFill>
                  <a:schemeClr val="bg1"/>
                </a:solidFill>
              </a:rPr>
              <a:t>A = 1111, B = 0001, Cin = 0. Bit 0 generates a carry and bits 1 to 3 propagate it, so C4 must wait for every stage.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000" b="1" dirty="0">
                <a:solidFill>
                  <a:schemeClr val="tx1"/>
                </a:solidFill>
              </a:rPr>
              <a:t>Carry propagation delay</a:t>
            </a:r>
            <a:endParaRPr lang="en-US" sz="3000" dirty="0"/>
          </a:p>
        </p:txBody>
      </p:sp>
      <p:graphicFrame>
        <p:nvGraphicFramePr>
          <p:cNvPr id="3" name="Chart 0" descr=""/>
          <p:cNvGraphicFramePr/>
          <p:nvPr/>
        </p:nvGraphicFramePr>
        <p:xfrm>
          <a:off x="457200" y="1188720"/>
          <a:ext cx="5029200" cy="3474720"/>
        </p:xfrm>
        <a:graphic xmlns:a="http://schemas.openxmlformats.org/drawingml/2006/main">
          <a:graphicData uri="http://schemas.openxmlformats.org/drawingml/2006/chart">
            <c:chart xmlns:c="http://schemas.openxmlformats.org/drawingml/2006/chart" r:id="rId1"/>
          </a:graphicData>
        </a:graphic>
      </p:graphicFrame>
      <p:sp>
        <p:nvSpPr>
          <p:cNvPr id="4" name="Delay formula card"/>
          <p:cNvSpPr/>
          <p:nvPr/>
        </p:nvSpPr>
        <p:spPr>
          <a:xfrm>
            <a:off x="5760720" y="1280160"/>
            <a:ext cx="2926080" cy="2377440"/>
          </a:xfrm>
          <a:prstGeom prst="roundRect">
            <a:avLst>
              <a:gd name="adj" fmla="val 4615"/>
            </a:avLst>
          </a:prstGeom>
          <a:solidFill>
            <a:schemeClr val="tx1"/>
          </a:solidFill>
          <a:ln w="12700">
            <a:solidFill>
              <a:schemeClr val="tx1"/>
            </a:solidFill>
            <a:prstDash val="solid"/>
          </a:ln>
        </p:spPr>
      </p:sp>
      <p:sp>
        <p:nvSpPr>
          <p:cNvPr id="5" name="Formula text"/>
          <p:cNvSpPr txBox="1"/>
          <p:nvPr/>
        </p:nvSpPr>
        <p:spPr>
          <a:xfrm>
            <a:off x="5943600" y="1371600"/>
            <a:ext cx="2560320" cy="2194560"/>
          </a:xfrm>
          <a:prstGeom prst="rect">
            <a:avLst/>
          </a:prstGeom>
          <a:noFill/>
          <a:ln/>
        </p:spPr>
        <p:txBody>
          <a:bodyPr wrap="square" lIns="0" tIns="0" rIns="0" bIns="0" rtlCol="0" anchor="ctr"/>
          <a:lstStyle/>
          <a:p>
            <a:pPr indent="0" marL="0">
              <a:buNone/>
            </a:pPr>
            <a:r>
              <a:rPr lang="en-US" sz="1200" b="1" dirty="0">
                <a:solidFill>
                  <a:schemeClr val="accent3"/>
                </a:solidFill>
              </a:rPr>
              <a:t>DELAY OF Cout</a:t>
            </a:r>
            <a:endParaRPr lang="en-US" sz="1200" dirty="0"/>
          </a:p>
          <a:p>
            <a:pPr indent="0" marL="0">
              <a:buNone/>
            </a:pPr>
            <a:r>
              <a:rPr lang="en-US" sz="1400" dirty="0">
                <a:solidFill>
                  <a:schemeClr val="bg1"/>
                </a:solidFill>
              </a:rPr>
              <a:t>t(XOR) + n·(t(AND) + t(OR))</a:t>
            </a:r>
            <a:endParaRPr lang="en-US" sz="1200" dirty="0"/>
          </a:p>
          <a:p>
            <a:pPr indent="0" marL="0">
              <a:buNone/>
            </a:pPr>
            <a:r>
              <a:rPr lang="en-US" sz="800" dirty="0">
                <a:solidFill>
                  <a:srgbClr val="000000"/>
                </a:solidFill>
              </a:rPr>
              <a:t> </a:t>
            </a:r>
            <a:endParaRPr lang="en-US" sz="1200" dirty="0"/>
          </a:p>
          <a:p>
            <a:pPr indent="0" marL="0">
              <a:buNone/>
            </a:pPr>
            <a:r>
              <a:rPr lang="en-US" sz="1800" b="1" dirty="0">
                <a:solidFill>
                  <a:schemeClr val="bg1"/>
                </a:solidFill>
              </a:rPr>
              <a:t>= (2n + 1) gate delays</a:t>
            </a:r>
            <a:endParaRPr lang="en-US" sz="1200" dirty="0"/>
          </a:p>
          <a:p>
            <a:pPr indent="0" marL="0">
              <a:buNone/>
            </a:pPr>
            <a:r>
              <a:rPr lang="en-US" sz="800" dirty="0">
                <a:solidFill>
                  <a:srgbClr val="000000"/>
                </a:solidFill>
              </a:rPr>
              <a:t> </a:t>
            </a:r>
            <a:endParaRPr lang="en-US" sz="1200" dirty="0"/>
          </a:p>
          <a:p>
            <a:pPr indent="0" marL="0">
              <a:buNone/>
            </a:pPr>
            <a:r>
              <a:rPr lang="en-US" sz="1800" b="1" dirty="0">
                <a:solidFill>
                  <a:schemeClr val="accent2"/>
                </a:solidFill>
              </a:rPr>
              <a:t>n = 4  →  9 gate delays</a:t>
            </a:r>
            <a:endParaRPr lang="en-US" sz="1200" dirty="0"/>
          </a:p>
        </p:txBody>
      </p:sp>
      <p:sp>
        <p:nvSpPr>
          <p:cNvPr id="6" name="Label"/>
          <p:cNvSpPr txBox="1"/>
          <p:nvPr/>
        </p:nvSpPr>
        <p:spPr>
          <a:xfrm>
            <a:off x="5760720" y="3794760"/>
            <a:ext cx="2926080" cy="914400"/>
          </a:xfrm>
          <a:prstGeom prst="rect">
            <a:avLst/>
          </a:prstGeom>
          <a:noFill/>
          <a:ln/>
        </p:spPr>
        <p:txBody>
          <a:bodyPr wrap="square" lIns="0" tIns="0" rIns="0" bIns="0" rtlCol="0" anchor="t"/>
          <a:lstStyle/>
          <a:p>
            <a:pPr algn="l" indent="0" marL="0">
              <a:buNone/>
            </a:pPr>
            <a:r>
              <a:rPr lang="en-US" sz="1400" dirty="0">
                <a:solidFill>
                  <a:schemeClr val="tx1"/>
                </a:solidFill>
              </a:rPr>
              <a:t>Each stage adds 2 gate delays (AND, then OR). The last sum bit S3 settles one XOR after C3, at 8 gate delays. With 1 ns per gate, the 4-bit adder needs 9 ns.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000" b="1" dirty="0">
                <a:solidFill>
                  <a:schemeClr val="tx1"/>
                </a:solidFill>
              </a:rPr>
              <a:t>Delay grows linearly with word length</a:t>
            </a:r>
            <a:endParaRPr lang="en-US" sz="3000" dirty="0"/>
          </a:p>
        </p:txBody>
      </p:sp>
      <p:sp>
        <p:nvSpPr>
          <p:cNvPr id="3" name="4-bit card"/>
          <p:cNvSpPr/>
          <p:nvPr/>
        </p:nvSpPr>
        <p:spPr>
          <a:xfrm>
            <a:off x="457200" y="1280160"/>
            <a:ext cx="1828800" cy="1737360"/>
          </a:xfrm>
          <a:prstGeom prst="roundRect">
            <a:avLst>
              <a:gd name="adj" fmla="val 6316"/>
            </a:avLst>
          </a:prstGeom>
          <a:solidFill>
            <a:schemeClr val="tx1"/>
          </a:solidFill>
          <a:ln w="12700">
            <a:solidFill>
              <a:schemeClr val="tx1"/>
            </a:solidFill>
            <a:prstDash val="solid"/>
          </a:ln>
        </p:spPr>
      </p:sp>
      <p:sp>
        <p:nvSpPr>
          <p:cNvPr id="4" name="Label"/>
          <p:cNvSpPr txBox="1"/>
          <p:nvPr/>
        </p:nvSpPr>
        <p:spPr>
          <a:xfrm>
            <a:off x="457200" y="1371600"/>
            <a:ext cx="1828800" cy="320040"/>
          </a:xfrm>
          <a:prstGeom prst="rect">
            <a:avLst/>
          </a:prstGeom>
          <a:noFill/>
          <a:ln/>
        </p:spPr>
        <p:txBody>
          <a:bodyPr wrap="square" lIns="0" tIns="0" rIns="0" bIns="0" rtlCol="0" anchor="ctr"/>
          <a:lstStyle/>
          <a:p>
            <a:pPr algn="ctr" indent="0" marL="0">
              <a:buNone/>
            </a:pPr>
            <a:r>
              <a:rPr lang="en-US" sz="1400" dirty="0">
                <a:solidFill>
                  <a:schemeClr val="bg1"/>
                </a:solidFill>
              </a:rPr>
              <a:t>4-bit adder</a:t>
            </a:r>
            <a:endParaRPr lang="en-US" sz="1400" dirty="0"/>
          </a:p>
        </p:txBody>
      </p:sp>
      <p:sp>
        <p:nvSpPr>
          <p:cNvPr id="5" name="Label"/>
          <p:cNvSpPr txBox="1"/>
          <p:nvPr/>
        </p:nvSpPr>
        <p:spPr>
          <a:xfrm>
            <a:off x="457200" y="1737360"/>
            <a:ext cx="1828800" cy="777240"/>
          </a:xfrm>
          <a:prstGeom prst="rect">
            <a:avLst/>
          </a:prstGeom>
          <a:noFill/>
          <a:ln/>
        </p:spPr>
        <p:txBody>
          <a:bodyPr wrap="square" lIns="0" tIns="0" rIns="0" bIns="0" rtlCol="0" anchor="ctr"/>
          <a:lstStyle/>
          <a:p>
            <a:pPr algn="ctr" indent="0" marL="0">
              <a:buNone/>
            </a:pPr>
            <a:r>
              <a:rPr lang="en-US" sz="5400" b="1" dirty="0">
                <a:solidFill>
                  <a:schemeClr val="accent2"/>
                </a:solidFill>
                <a:latin typeface="Cambria" pitchFamily="34" charset="0"/>
                <a:ea typeface="Cambria" pitchFamily="34" charset="-122"/>
                <a:cs typeface="Cambria" pitchFamily="34" charset="-120"/>
              </a:rPr>
              <a:t>9</a:t>
            </a:r>
            <a:endParaRPr lang="en-US" sz="5400" dirty="0"/>
          </a:p>
        </p:txBody>
      </p:sp>
      <p:sp>
        <p:nvSpPr>
          <p:cNvPr id="6" name="Label"/>
          <p:cNvSpPr txBox="1"/>
          <p:nvPr/>
        </p:nvSpPr>
        <p:spPr>
          <a:xfrm>
            <a:off x="457200" y="2560320"/>
            <a:ext cx="1828800" cy="320040"/>
          </a:xfrm>
          <a:prstGeom prst="rect">
            <a:avLst/>
          </a:prstGeom>
          <a:noFill/>
          <a:ln/>
        </p:spPr>
        <p:txBody>
          <a:bodyPr wrap="square" lIns="0" tIns="0" rIns="0" bIns="0" rtlCol="0" anchor="ctr"/>
          <a:lstStyle/>
          <a:p>
            <a:pPr algn="ctr" indent="0" marL="0">
              <a:buNone/>
            </a:pPr>
            <a:r>
              <a:rPr lang="en-US" sz="1200" dirty="0">
                <a:solidFill>
                  <a:schemeClr val="accent3"/>
                </a:solidFill>
              </a:rPr>
              <a:t>gate delays</a:t>
            </a:r>
            <a:endParaRPr lang="en-US" sz="1200" dirty="0"/>
          </a:p>
        </p:txBody>
      </p:sp>
      <p:sp>
        <p:nvSpPr>
          <p:cNvPr id="7" name="8-bit card"/>
          <p:cNvSpPr/>
          <p:nvPr/>
        </p:nvSpPr>
        <p:spPr>
          <a:xfrm>
            <a:off x="2587752" y="1280160"/>
            <a:ext cx="1828800" cy="1737360"/>
          </a:xfrm>
          <a:prstGeom prst="roundRect">
            <a:avLst>
              <a:gd name="adj" fmla="val 6316"/>
            </a:avLst>
          </a:prstGeom>
          <a:solidFill>
            <a:schemeClr val="tx1"/>
          </a:solidFill>
          <a:ln w="12700">
            <a:solidFill>
              <a:schemeClr val="tx1"/>
            </a:solidFill>
            <a:prstDash val="solid"/>
          </a:ln>
        </p:spPr>
      </p:sp>
      <p:sp>
        <p:nvSpPr>
          <p:cNvPr id="8" name="Label"/>
          <p:cNvSpPr txBox="1"/>
          <p:nvPr/>
        </p:nvSpPr>
        <p:spPr>
          <a:xfrm>
            <a:off x="2587752" y="1371600"/>
            <a:ext cx="1828800" cy="320040"/>
          </a:xfrm>
          <a:prstGeom prst="rect">
            <a:avLst/>
          </a:prstGeom>
          <a:noFill/>
          <a:ln/>
        </p:spPr>
        <p:txBody>
          <a:bodyPr wrap="square" lIns="0" tIns="0" rIns="0" bIns="0" rtlCol="0" anchor="ctr"/>
          <a:lstStyle/>
          <a:p>
            <a:pPr algn="ctr" indent="0" marL="0">
              <a:buNone/>
            </a:pPr>
            <a:r>
              <a:rPr lang="en-US" sz="1400" dirty="0">
                <a:solidFill>
                  <a:schemeClr val="bg1"/>
                </a:solidFill>
              </a:rPr>
              <a:t>8-bit adder</a:t>
            </a:r>
            <a:endParaRPr lang="en-US" sz="1400" dirty="0"/>
          </a:p>
        </p:txBody>
      </p:sp>
      <p:sp>
        <p:nvSpPr>
          <p:cNvPr id="9" name="Label"/>
          <p:cNvSpPr txBox="1"/>
          <p:nvPr/>
        </p:nvSpPr>
        <p:spPr>
          <a:xfrm>
            <a:off x="2587752" y="1737360"/>
            <a:ext cx="1828800" cy="777240"/>
          </a:xfrm>
          <a:prstGeom prst="rect">
            <a:avLst/>
          </a:prstGeom>
          <a:noFill/>
          <a:ln/>
        </p:spPr>
        <p:txBody>
          <a:bodyPr wrap="square" lIns="0" tIns="0" rIns="0" bIns="0" rtlCol="0" anchor="ctr"/>
          <a:lstStyle/>
          <a:p>
            <a:pPr algn="ctr" indent="0" marL="0">
              <a:buNone/>
            </a:pPr>
            <a:r>
              <a:rPr lang="en-US" sz="5400" b="1" dirty="0">
                <a:solidFill>
                  <a:schemeClr val="accent2"/>
                </a:solidFill>
                <a:latin typeface="Cambria" pitchFamily="34" charset="0"/>
                <a:ea typeface="Cambria" pitchFamily="34" charset="-122"/>
                <a:cs typeface="Cambria" pitchFamily="34" charset="-120"/>
              </a:rPr>
              <a:t>17</a:t>
            </a:r>
            <a:endParaRPr lang="en-US" sz="5400" dirty="0"/>
          </a:p>
        </p:txBody>
      </p:sp>
      <p:sp>
        <p:nvSpPr>
          <p:cNvPr id="10" name="Label"/>
          <p:cNvSpPr txBox="1"/>
          <p:nvPr/>
        </p:nvSpPr>
        <p:spPr>
          <a:xfrm>
            <a:off x="2587752" y="2560320"/>
            <a:ext cx="1828800" cy="320040"/>
          </a:xfrm>
          <a:prstGeom prst="rect">
            <a:avLst/>
          </a:prstGeom>
          <a:noFill/>
          <a:ln/>
        </p:spPr>
        <p:txBody>
          <a:bodyPr wrap="square" lIns="0" tIns="0" rIns="0" bIns="0" rtlCol="0" anchor="ctr"/>
          <a:lstStyle/>
          <a:p>
            <a:pPr algn="ctr" indent="0" marL="0">
              <a:buNone/>
            </a:pPr>
            <a:r>
              <a:rPr lang="en-US" sz="1200" dirty="0">
                <a:solidFill>
                  <a:schemeClr val="accent3"/>
                </a:solidFill>
              </a:rPr>
              <a:t>gate delays</a:t>
            </a:r>
            <a:endParaRPr lang="en-US" sz="1200" dirty="0"/>
          </a:p>
        </p:txBody>
      </p:sp>
      <p:sp>
        <p:nvSpPr>
          <p:cNvPr id="11" name="16-bit card"/>
          <p:cNvSpPr/>
          <p:nvPr/>
        </p:nvSpPr>
        <p:spPr>
          <a:xfrm>
            <a:off x="4718304" y="1280160"/>
            <a:ext cx="1828800" cy="1737360"/>
          </a:xfrm>
          <a:prstGeom prst="roundRect">
            <a:avLst>
              <a:gd name="adj" fmla="val 6316"/>
            </a:avLst>
          </a:prstGeom>
          <a:solidFill>
            <a:schemeClr val="tx1"/>
          </a:solidFill>
          <a:ln w="12700">
            <a:solidFill>
              <a:schemeClr val="tx1"/>
            </a:solidFill>
            <a:prstDash val="solid"/>
          </a:ln>
        </p:spPr>
      </p:sp>
      <p:sp>
        <p:nvSpPr>
          <p:cNvPr id="12" name="Label"/>
          <p:cNvSpPr txBox="1"/>
          <p:nvPr/>
        </p:nvSpPr>
        <p:spPr>
          <a:xfrm>
            <a:off x="4718304" y="1371600"/>
            <a:ext cx="1828800" cy="320040"/>
          </a:xfrm>
          <a:prstGeom prst="rect">
            <a:avLst/>
          </a:prstGeom>
          <a:noFill/>
          <a:ln/>
        </p:spPr>
        <p:txBody>
          <a:bodyPr wrap="square" lIns="0" tIns="0" rIns="0" bIns="0" rtlCol="0" anchor="ctr"/>
          <a:lstStyle/>
          <a:p>
            <a:pPr algn="ctr" indent="0" marL="0">
              <a:buNone/>
            </a:pPr>
            <a:r>
              <a:rPr lang="en-US" sz="1400" dirty="0">
                <a:solidFill>
                  <a:schemeClr val="bg1"/>
                </a:solidFill>
              </a:rPr>
              <a:t>16-bit adder</a:t>
            </a:r>
            <a:endParaRPr lang="en-US" sz="1400" dirty="0"/>
          </a:p>
        </p:txBody>
      </p:sp>
      <p:sp>
        <p:nvSpPr>
          <p:cNvPr id="13" name="Label"/>
          <p:cNvSpPr txBox="1"/>
          <p:nvPr/>
        </p:nvSpPr>
        <p:spPr>
          <a:xfrm>
            <a:off x="4718304" y="1737360"/>
            <a:ext cx="1828800" cy="777240"/>
          </a:xfrm>
          <a:prstGeom prst="rect">
            <a:avLst/>
          </a:prstGeom>
          <a:noFill/>
          <a:ln/>
        </p:spPr>
        <p:txBody>
          <a:bodyPr wrap="square" lIns="0" tIns="0" rIns="0" bIns="0" rtlCol="0" anchor="ctr"/>
          <a:lstStyle/>
          <a:p>
            <a:pPr algn="ctr" indent="0" marL="0">
              <a:buNone/>
            </a:pPr>
            <a:r>
              <a:rPr lang="en-US" sz="5400" b="1" dirty="0">
                <a:solidFill>
                  <a:schemeClr val="accent2"/>
                </a:solidFill>
                <a:latin typeface="Cambria" pitchFamily="34" charset="0"/>
                <a:ea typeface="Cambria" pitchFamily="34" charset="-122"/>
                <a:cs typeface="Cambria" pitchFamily="34" charset="-120"/>
              </a:rPr>
              <a:t>33</a:t>
            </a:r>
            <a:endParaRPr lang="en-US" sz="5400" dirty="0"/>
          </a:p>
        </p:txBody>
      </p:sp>
      <p:sp>
        <p:nvSpPr>
          <p:cNvPr id="14" name="Label"/>
          <p:cNvSpPr txBox="1"/>
          <p:nvPr/>
        </p:nvSpPr>
        <p:spPr>
          <a:xfrm>
            <a:off x="4718304" y="2560320"/>
            <a:ext cx="1828800" cy="320040"/>
          </a:xfrm>
          <a:prstGeom prst="rect">
            <a:avLst/>
          </a:prstGeom>
          <a:noFill/>
          <a:ln/>
        </p:spPr>
        <p:txBody>
          <a:bodyPr wrap="square" lIns="0" tIns="0" rIns="0" bIns="0" rtlCol="0" anchor="ctr"/>
          <a:lstStyle/>
          <a:p>
            <a:pPr algn="ctr" indent="0" marL="0">
              <a:buNone/>
            </a:pPr>
            <a:r>
              <a:rPr lang="en-US" sz="1200" dirty="0">
                <a:solidFill>
                  <a:schemeClr val="accent3"/>
                </a:solidFill>
              </a:rPr>
              <a:t>gate delays</a:t>
            </a:r>
            <a:endParaRPr lang="en-US" sz="1200" dirty="0"/>
          </a:p>
        </p:txBody>
      </p:sp>
      <p:sp>
        <p:nvSpPr>
          <p:cNvPr id="15" name="32-bit card"/>
          <p:cNvSpPr/>
          <p:nvPr/>
        </p:nvSpPr>
        <p:spPr>
          <a:xfrm>
            <a:off x="6848856" y="1280160"/>
            <a:ext cx="1828800" cy="1737360"/>
          </a:xfrm>
          <a:prstGeom prst="roundRect">
            <a:avLst>
              <a:gd name="adj" fmla="val 6316"/>
            </a:avLst>
          </a:prstGeom>
          <a:solidFill>
            <a:schemeClr val="tx1"/>
          </a:solidFill>
          <a:ln w="12700">
            <a:solidFill>
              <a:schemeClr val="tx1"/>
            </a:solidFill>
            <a:prstDash val="solid"/>
          </a:ln>
        </p:spPr>
      </p:sp>
      <p:sp>
        <p:nvSpPr>
          <p:cNvPr id="16" name="Label"/>
          <p:cNvSpPr txBox="1"/>
          <p:nvPr/>
        </p:nvSpPr>
        <p:spPr>
          <a:xfrm>
            <a:off x="6848856" y="1371600"/>
            <a:ext cx="1828800" cy="320040"/>
          </a:xfrm>
          <a:prstGeom prst="rect">
            <a:avLst/>
          </a:prstGeom>
          <a:noFill/>
          <a:ln/>
        </p:spPr>
        <p:txBody>
          <a:bodyPr wrap="square" lIns="0" tIns="0" rIns="0" bIns="0" rtlCol="0" anchor="ctr"/>
          <a:lstStyle/>
          <a:p>
            <a:pPr algn="ctr" indent="0" marL="0">
              <a:buNone/>
            </a:pPr>
            <a:r>
              <a:rPr lang="en-US" sz="1400" dirty="0">
                <a:solidFill>
                  <a:schemeClr val="bg1"/>
                </a:solidFill>
              </a:rPr>
              <a:t>32-bit adder</a:t>
            </a:r>
            <a:endParaRPr lang="en-US" sz="1400" dirty="0"/>
          </a:p>
        </p:txBody>
      </p:sp>
      <p:sp>
        <p:nvSpPr>
          <p:cNvPr id="17" name="Label"/>
          <p:cNvSpPr txBox="1"/>
          <p:nvPr/>
        </p:nvSpPr>
        <p:spPr>
          <a:xfrm>
            <a:off x="6848856" y="1737360"/>
            <a:ext cx="1828800" cy="777240"/>
          </a:xfrm>
          <a:prstGeom prst="rect">
            <a:avLst/>
          </a:prstGeom>
          <a:noFill/>
          <a:ln/>
        </p:spPr>
        <p:txBody>
          <a:bodyPr wrap="square" lIns="0" tIns="0" rIns="0" bIns="0" rtlCol="0" anchor="ctr"/>
          <a:lstStyle/>
          <a:p>
            <a:pPr algn="ctr" indent="0" marL="0">
              <a:buNone/>
            </a:pPr>
            <a:r>
              <a:rPr lang="en-US" sz="5400" b="1" dirty="0">
                <a:solidFill>
                  <a:schemeClr val="accent2"/>
                </a:solidFill>
                <a:latin typeface="Cambria" pitchFamily="34" charset="0"/>
                <a:ea typeface="Cambria" pitchFamily="34" charset="-122"/>
                <a:cs typeface="Cambria" pitchFamily="34" charset="-120"/>
              </a:rPr>
              <a:t>65</a:t>
            </a:r>
            <a:endParaRPr lang="en-US" sz="5400" dirty="0"/>
          </a:p>
        </p:txBody>
      </p:sp>
      <p:sp>
        <p:nvSpPr>
          <p:cNvPr id="18" name="Label"/>
          <p:cNvSpPr txBox="1"/>
          <p:nvPr/>
        </p:nvSpPr>
        <p:spPr>
          <a:xfrm>
            <a:off x="6848856" y="2560320"/>
            <a:ext cx="1828800" cy="320040"/>
          </a:xfrm>
          <a:prstGeom prst="rect">
            <a:avLst/>
          </a:prstGeom>
          <a:noFill/>
          <a:ln/>
        </p:spPr>
        <p:txBody>
          <a:bodyPr wrap="square" lIns="0" tIns="0" rIns="0" bIns="0" rtlCol="0" anchor="ctr"/>
          <a:lstStyle/>
          <a:p>
            <a:pPr algn="ctr" indent="0" marL="0">
              <a:buNone/>
            </a:pPr>
            <a:r>
              <a:rPr lang="en-US" sz="1200" dirty="0">
                <a:solidFill>
                  <a:schemeClr val="accent3"/>
                </a:solidFill>
              </a:rPr>
              <a:t>gate delays</a:t>
            </a:r>
            <a:endParaRPr lang="en-US" sz="1200" dirty="0"/>
          </a:p>
        </p:txBody>
      </p:sp>
      <p:sp>
        <p:nvSpPr>
          <p:cNvPr id="19" name="Scaling points"/>
          <p:cNvSpPr txBox="1"/>
          <p:nvPr/>
        </p:nvSpPr>
        <p:spPr>
          <a:xfrm>
            <a:off x="457200" y="3291840"/>
            <a:ext cx="822960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Delay = (2n + 1) gate delays, so doubling the width roughly doubles the delay.</a:t>
            </a:r>
            <a:endParaRPr lang="en-US" sz="1600" dirty="0"/>
          </a:p>
          <a:p>
            <a:pPr marL="342900" indent="-342900">
              <a:spcAft>
                <a:spcPts val="800"/>
              </a:spcAft>
              <a:buSzPct val="100000"/>
              <a:buChar char="•"/>
            </a:pPr>
            <a:r>
              <a:rPr lang="en-US" sz="1600" dirty="0">
                <a:solidFill>
                  <a:schemeClr val="tx1"/>
                </a:solidFill>
              </a:rPr>
              <a:t>Every extra bit adds one more carry stage to the critical path.</a:t>
            </a:r>
            <a:endParaRPr lang="en-US" sz="1600" dirty="0"/>
          </a:p>
          <a:p>
            <a:pPr marL="342900" indent="-342900">
              <a:spcAft>
                <a:spcPts val="800"/>
              </a:spcAft>
              <a:buSzPct val="100000"/>
              <a:buChar char="•"/>
            </a:pPr>
            <a:r>
              <a:rPr lang="en-US" sz="1600" dirty="0">
                <a:solidFill>
                  <a:schemeClr val="tx1"/>
                </a:solidFill>
              </a:rPr>
              <a:t>A 4-bit carry-lookahead adder computes carries in parallel and needs only about 3 to 4 gate delays.</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000" b="1" dirty="0">
                <a:solidFill>
                  <a:schemeClr val="bg1"/>
                </a:solidFill>
              </a:rPr>
              <a:t>Summary</a:t>
            </a:r>
            <a:endParaRPr lang="en-US" sz="3000" dirty="0"/>
          </a:p>
        </p:txBody>
      </p:sp>
      <p:sp>
        <p:nvSpPr>
          <p:cNvPr id="3" name="Strengths card"/>
          <p:cNvSpPr/>
          <p:nvPr/>
        </p:nvSpPr>
        <p:spPr>
          <a:xfrm>
            <a:off x="457200" y="1280160"/>
            <a:ext cx="2560320" cy="2468880"/>
          </a:xfrm>
          <a:prstGeom prst="roundRect">
            <a:avLst>
              <a:gd name="adj" fmla="val 4444"/>
            </a:avLst>
          </a:prstGeom>
          <a:solidFill>
            <a:schemeClr val="tx2"/>
          </a:solidFill>
          <a:ln w="12700">
            <a:solidFill>
              <a:schemeClr val="tx2"/>
            </a:solidFill>
            <a:prstDash val="solid"/>
          </a:ln>
        </p:spPr>
      </p:sp>
      <p:sp>
        <p:nvSpPr>
          <p:cNvPr id="4" name="Label"/>
          <p:cNvSpPr txBox="1"/>
          <p:nvPr/>
        </p:nvSpPr>
        <p:spPr>
          <a:xfrm>
            <a:off x="685800" y="1417320"/>
            <a:ext cx="2103120" cy="457200"/>
          </a:xfrm>
          <a:prstGeom prst="rect">
            <a:avLst/>
          </a:prstGeom>
          <a:noFill/>
          <a:ln/>
        </p:spPr>
        <p:txBody>
          <a:bodyPr wrap="square" lIns="0" tIns="0" rIns="0" bIns="0" rtlCol="0" anchor="ctr"/>
          <a:lstStyle/>
          <a:p>
            <a:pPr algn="l" indent="0" marL="0">
              <a:buNone/>
            </a:pPr>
            <a:r>
              <a:rPr lang="en-US" sz="1800" b="1" dirty="0">
                <a:solidFill>
                  <a:schemeClr val="accent2"/>
                </a:solidFill>
              </a:rPr>
              <a:t>Strengths</a:t>
            </a:r>
            <a:endParaRPr lang="en-US" sz="1800" dirty="0"/>
          </a:p>
        </p:txBody>
      </p:sp>
      <p:sp>
        <p:nvSpPr>
          <p:cNvPr id="5" name="Strengths list"/>
          <p:cNvSpPr txBox="1"/>
          <p:nvPr/>
        </p:nvSpPr>
        <p:spPr>
          <a:xfrm>
            <a:off x="685800" y="1920240"/>
            <a:ext cx="214884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Simple, regular design</a:t>
            </a:r>
            <a:endParaRPr lang="en-US" sz="1400" dirty="0"/>
          </a:p>
          <a:p>
            <a:pPr marL="342900" indent="-342900">
              <a:spcAft>
                <a:spcPts val="800"/>
              </a:spcAft>
              <a:buSzPct val="100000"/>
              <a:buChar char="•"/>
            </a:pPr>
            <a:r>
              <a:rPr lang="en-US" sz="1400" dirty="0">
                <a:solidFill>
                  <a:schemeClr val="bg1"/>
                </a:solidFill>
              </a:rPr>
              <a:t>Only 20 gates for 4 bits</a:t>
            </a:r>
            <a:endParaRPr lang="en-US" sz="1400" dirty="0"/>
          </a:p>
          <a:p>
            <a:pPr marL="342900" indent="-342900">
              <a:spcAft>
                <a:spcPts val="800"/>
              </a:spcAft>
              <a:buSzPct val="100000"/>
              <a:buChar char="•"/>
            </a:pPr>
            <a:r>
              <a:rPr lang="en-US" sz="1400" dirty="0">
                <a:solidFill>
                  <a:schemeClr val="bg1"/>
                </a:solidFill>
              </a:rPr>
              <a:t>Easy to extend to n bits</a:t>
            </a:r>
            <a:endParaRPr lang="en-US" sz="1400" dirty="0"/>
          </a:p>
        </p:txBody>
      </p:sp>
      <p:sp>
        <p:nvSpPr>
          <p:cNvPr id="6" name="Limitation card"/>
          <p:cNvSpPr/>
          <p:nvPr/>
        </p:nvSpPr>
        <p:spPr>
          <a:xfrm>
            <a:off x="3291840" y="1280160"/>
            <a:ext cx="2560320" cy="2468880"/>
          </a:xfrm>
          <a:prstGeom prst="roundRect">
            <a:avLst>
              <a:gd name="adj" fmla="val 4444"/>
            </a:avLst>
          </a:prstGeom>
          <a:solidFill>
            <a:schemeClr val="tx2"/>
          </a:solidFill>
          <a:ln w="12700">
            <a:solidFill>
              <a:schemeClr val="tx2"/>
            </a:solidFill>
            <a:prstDash val="solid"/>
          </a:ln>
        </p:spPr>
      </p:sp>
      <p:sp>
        <p:nvSpPr>
          <p:cNvPr id="7" name="Label"/>
          <p:cNvSpPr txBox="1"/>
          <p:nvPr/>
        </p:nvSpPr>
        <p:spPr>
          <a:xfrm>
            <a:off x="3520440" y="1417320"/>
            <a:ext cx="2103120" cy="457200"/>
          </a:xfrm>
          <a:prstGeom prst="rect">
            <a:avLst/>
          </a:prstGeom>
          <a:noFill/>
          <a:ln/>
        </p:spPr>
        <p:txBody>
          <a:bodyPr wrap="square" lIns="0" tIns="0" rIns="0" bIns="0" rtlCol="0" anchor="ctr"/>
          <a:lstStyle/>
          <a:p>
            <a:pPr algn="l" indent="0" marL="0">
              <a:buNone/>
            </a:pPr>
            <a:r>
              <a:rPr lang="en-US" sz="1800" b="1" dirty="0">
                <a:solidFill>
                  <a:schemeClr val="accent2"/>
                </a:solidFill>
              </a:rPr>
              <a:t>Limitation</a:t>
            </a:r>
            <a:endParaRPr lang="en-US" sz="1800" dirty="0"/>
          </a:p>
        </p:txBody>
      </p:sp>
      <p:sp>
        <p:nvSpPr>
          <p:cNvPr id="8" name="Limitation list"/>
          <p:cNvSpPr txBox="1"/>
          <p:nvPr/>
        </p:nvSpPr>
        <p:spPr>
          <a:xfrm>
            <a:off x="3520440" y="1920240"/>
            <a:ext cx="214884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Delay of (2n + 1) gate delays</a:t>
            </a:r>
            <a:endParaRPr lang="en-US" sz="1400" dirty="0"/>
          </a:p>
          <a:p>
            <a:pPr marL="342900" indent="-342900">
              <a:spcAft>
                <a:spcPts val="800"/>
              </a:spcAft>
              <a:buSzPct val="100000"/>
              <a:buChar char="•"/>
            </a:pPr>
            <a:r>
              <a:rPr lang="en-US" sz="1400" dirty="0">
                <a:solidFill>
                  <a:schemeClr val="bg1"/>
                </a:solidFill>
              </a:rPr>
              <a:t>The carry chain sets the speed</a:t>
            </a:r>
            <a:endParaRPr lang="en-US" sz="1400" dirty="0"/>
          </a:p>
          <a:p>
            <a:pPr marL="342900" indent="-342900">
              <a:spcAft>
                <a:spcPts val="800"/>
              </a:spcAft>
              <a:buSzPct val="100000"/>
              <a:buChar char="•"/>
            </a:pPr>
            <a:r>
              <a:rPr lang="en-US" sz="1400" dirty="0">
                <a:solidFill>
                  <a:schemeClr val="bg1"/>
                </a:solidFill>
              </a:rPr>
              <a:t>Slows down as width grows</a:t>
            </a:r>
            <a:endParaRPr lang="en-US" sz="1400" dirty="0"/>
          </a:p>
        </p:txBody>
      </p:sp>
      <p:sp>
        <p:nvSpPr>
          <p:cNvPr id="9" name="Faster options card"/>
          <p:cNvSpPr/>
          <p:nvPr/>
        </p:nvSpPr>
        <p:spPr>
          <a:xfrm>
            <a:off x="6126480" y="1280160"/>
            <a:ext cx="2560320" cy="2468880"/>
          </a:xfrm>
          <a:prstGeom prst="roundRect">
            <a:avLst>
              <a:gd name="adj" fmla="val 4444"/>
            </a:avLst>
          </a:prstGeom>
          <a:solidFill>
            <a:schemeClr val="tx2"/>
          </a:solidFill>
          <a:ln w="12700">
            <a:solidFill>
              <a:schemeClr val="tx2"/>
            </a:solidFill>
            <a:prstDash val="solid"/>
          </a:ln>
        </p:spPr>
      </p:sp>
      <p:sp>
        <p:nvSpPr>
          <p:cNvPr id="10" name="Label"/>
          <p:cNvSpPr txBox="1"/>
          <p:nvPr/>
        </p:nvSpPr>
        <p:spPr>
          <a:xfrm>
            <a:off x="6355080" y="1417320"/>
            <a:ext cx="2103120" cy="457200"/>
          </a:xfrm>
          <a:prstGeom prst="rect">
            <a:avLst/>
          </a:prstGeom>
          <a:noFill/>
          <a:ln/>
        </p:spPr>
        <p:txBody>
          <a:bodyPr wrap="square" lIns="0" tIns="0" rIns="0" bIns="0" rtlCol="0" anchor="ctr"/>
          <a:lstStyle/>
          <a:p>
            <a:pPr algn="l" indent="0" marL="0">
              <a:buNone/>
            </a:pPr>
            <a:r>
              <a:rPr lang="en-US" sz="1800" b="1" dirty="0">
                <a:solidFill>
                  <a:schemeClr val="accent2"/>
                </a:solidFill>
              </a:rPr>
              <a:t>Faster options</a:t>
            </a:r>
            <a:endParaRPr lang="en-US" sz="1800" dirty="0"/>
          </a:p>
        </p:txBody>
      </p:sp>
      <p:sp>
        <p:nvSpPr>
          <p:cNvPr id="11" name="Faster options list"/>
          <p:cNvSpPr txBox="1"/>
          <p:nvPr/>
        </p:nvSpPr>
        <p:spPr>
          <a:xfrm>
            <a:off x="6355080" y="1920240"/>
            <a:ext cx="214884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Carry-lookahead adder</a:t>
            </a:r>
            <a:endParaRPr lang="en-US" sz="1400" dirty="0"/>
          </a:p>
          <a:p>
            <a:pPr marL="342900" indent="-342900">
              <a:spcAft>
                <a:spcPts val="800"/>
              </a:spcAft>
              <a:buSzPct val="100000"/>
              <a:buChar char="•"/>
            </a:pPr>
            <a:r>
              <a:rPr lang="en-US" sz="1400" dirty="0">
                <a:solidFill>
                  <a:schemeClr val="bg1"/>
                </a:solidFill>
              </a:rPr>
              <a:t>Carry-select adder</a:t>
            </a:r>
            <a:endParaRPr lang="en-US" sz="1400" dirty="0"/>
          </a:p>
          <a:p>
            <a:pPr marL="342900" indent="-342900">
              <a:spcAft>
                <a:spcPts val="800"/>
              </a:spcAft>
              <a:buSzPct val="100000"/>
              <a:buChar char="•"/>
            </a:pPr>
            <a:r>
              <a:rPr lang="en-US" sz="1400" dirty="0">
                <a:solidFill>
                  <a:schemeClr val="bg1"/>
                </a:solidFill>
              </a:rPr>
              <a:t>Carry-skip adder</a:t>
            </a:r>
            <a:endParaRPr lang="en-US" sz="1400" dirty="0"/>
          </a:p>
        </p:txBody>
      </p:sp>
      <p:sp>
        <p:nvSpPr>
          <p:cNvPr id="12" name="Label"/>
          <p:cNvSpPr txBox="1"/>
          <p:nvPr/>
        </p:nvSpPr>
        <p:spPr>
          <a:xfrm>
            <a:off x="457200" y="3931920"/>
            <a:ext cx="8229600" cy="640080"/>
          </a:xfrm>
          <a:prstGeom prst="rect">
            <a:avLst/>
          </a:prstGeom>
          <a:noFill/>
          <a:ln/>
        </p:spPr>
        <p:txBody>
          <a:bodyPr wrap="square" lIns="0" tIns="0" rIns="0" bIns="0" rtlCol="0" anchor="ctr"/>
          <a:lstStyle/>
          <a:p>
            <a:pPr algn="l" indent="0" marL="0">
              <a:buNone/>
            </a:pPr>
            <a:r>
              <a:rPr lang="en-US" sz="1800" i="1" dirty="0">
                <a:solidFill>
                  <a:schemeClr val="accent3"/>
                </a:solidFill>
              </a:rPr>
              <a:t>Simple and cheap, but its carry chain makes it slow as the word length grows.</a:t>
            </a:r>
            <a:endParaRPr lang="en-US" sz="18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Ripple Carry">
  <a:themeElements>
    <a:clrScheme name="Ripple Carry">
      <a:dk1>
        <a:srgbClr val="0B2B26"/>
      </a:dk1>
      <a:lt1>
        <a:srgbClr val="FFFFFF"/>
      </a:lt1>
      <a:dk2>
        <a:srgbClr val="14463D"/>
      </a:dk2>
      <a:lt2>
        <a:srgbClr val="EAF4F1"/>
      </a:lt2>
      <a:accent1>
        <a:srgbClr val="17806F"/>
      </a:accent1>
      <a:accent2>
        <a:srgbClr val="F5A800"/>
      </a:accent2>
      <a:accent3>
        <a:srgbClr val="7FD6C2"/>
      </a:accent3>
      <a:accent4>
        <a:srgbClr val="3C6E64"/>
      </a:accent4>
      <a:accent5>
        <a:srgbClr val="C8553D"/>
      </a:accent5>
      <a:accent6>
        <a:srgbClr val="8A9A96"/>
      </a:accent6>
      <a:hlink>
        <a:srgbClr val="17806F"/>
      </a:hlink>
      <a:folHlink>
        <a:srgbClr val="3C6E64"/>
      </a:folHlink>
    </a:clrScheme>
    <a:fontScheme name="Ripple Car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4-Bit Ripple Carry Adder</dc:title>
  <dc:subject>PptxGenJS Presentation</dc:subject>
  <dc:creator>Digital Logic Design</dc:creator>
  <cp:lastModifiedBy>Digital Logic Design</cp:lastModifiedBy>
  <cp:revision>1</cp:revision>
  <dcterms:created xsi:type="dcterms:W3CDTF">2026-10-15T03:29:55Z</dcterms:created>
  <dcterms:modified xsi:type="dcterms:W3CDTF">2026-10-15T03:29:55Z</dcterms:modified>
</cp:coreProperties>
</file>